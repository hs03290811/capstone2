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305" r:id="rId38"/>
    <p:sldId id="292" r:id="rId39"/>
    <p:sldId id="303" r:id="rId40"/>
    <p:sldId id="294" r:id="rId41"/>
    <p:sldId id="295" r:id="rId42"/>
    <p:sldId id="296" r:id="rId43"/>
    <p:sldId id="297" r:id="rId44"/>
    <p:sldId id="298" r:id="rId45"/>
    <p:sldId id="299" r:id="rId46"/>
    <p:sldId id="301" r:id="rId47"/>
    <p:sldId id="300" r:id="rId48"/>
  </p:sldIdLst>
  <p:sldSz cx="12192000" cy="6858000"/>
  <p:notesSz cx="6858000" cy="9144000"/>
  <p:embeddedFontLst>
    <p:embeddedFont>
      <p:font typeface="Inter" panose="020B0604020202020204" charset="0"/>
      <p:regular r:id="rId50"/>
      <p:bold r:id="rId51"/>
      <p:italic r:id="rId52"/>
      <p:boldItalic r:id="rId53"/>
    </p:embeddedFont>
    <p:embeddedFont>
      <p:font typeface="Inter ExtraBold" panose="020B0604020202020204" charset="0"/>
      <p:bold r:id="rId54"/>
      <p:boldItalic r:id="rId55"/>
    </p:embeddedFont>
    <p:embeddedFont>
      <p:font typeface="Inter Medium" panose="020B0604020202020204" charset="0"/>
      <p:regular r:id="rId56"/>
      <p:bold r:id="rId57"/>
      <p:italic r:id="rId58"/>
      <p:boldItalic r:id="rId59"/>
    </p:embeddedFont>
    <p:embeddedFont>
      <p:font typeface="Inter SemiBold" panose="020B0604020202020204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E0D2BD-2155-4C02-B294-2F15D94BEF02}">
  <a:tblStyle styleId="{B6E0D2BD-2155-4C02-B294-2F15D94BEF0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424" autoAdjust="0"/>
  </p:normalViewPr>
  <p:slideViewPr>
    <p:cSldViewPr snapToGrid="0">
      <p:cViewPr varScale="1">
        <p:scale>
          <a:sx n="82" d="100"/>
          <a:sy n="82" d="100"/>
        </p:scale>
        <p:origin x="167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## Slide 1.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표지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(Title)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안녕하십니까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2026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학년도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학기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캡스톤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디자인 최종 발표를 맡은 유민성입니다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 팀은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'AI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기반 사용자 인증 및 보안 시스템 개발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주제로 연구를 진행했습니다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본 프로젝트에서는 기존 인증 방식의 한계를 보완하기 위해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다이내믹스와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위험 기반 인증을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고도화하는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데 초점을 맞추었습니다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그럼 발표를 시작하도록 하겠습니다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## Slide 2.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목차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(Table of Contents)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오늘 발표는 크게 네 가지 순서로 진행하겠습니다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먼저 본 연구를 시작하게 된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프로젝트 개요와 배경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말씀드리겠습니다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이어서 핵심 구현 내용인 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다이나믹스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기반 인증 시스템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과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위험 기반 인증 시스템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에 대해 설명해 드린 후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최종적으로 이 두 시스템이 결합된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통합 아키텍처와 구현 결과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보여드리며 발표를 마무리하겠습니다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## Slide 3.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크리덴셜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스터핑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공격의 위험성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첫 번째로 프로젝트의 배경이 되는 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크리덴셜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스터핑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공격의 위험성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크리덴셜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스터핑은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이미 유출된 사용자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ID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와 비밀번호 조합을 </a:t>
            </a:r>
            <a:endParaRPr lang="en-US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다른 보안이 취약한 서비스들에 무작위로 대입하여 계정을 탈취하는 공격 기법입니다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사용자들이 여러 플랫폼에서 동일한 계정 정보를 재사용하는 경향을 악용하는 것이 특징입니다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다음으로 최근 국내에서 발생한 주요 피해 사례를 말씀드리겠습니다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크리덴셜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스터핑은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더 이상 이론적인 위협이 아니라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국내 유수의 기업들을 대상으로 지속적인 피해를 입히고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대표적으로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GS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리테일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의 경우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약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158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만 건의 공격 시도가 있었고 이로 인해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9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만 명의 개인정보가 유출되는 사고가 있었습니다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티머니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와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대성마이맥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역시 유사한 공격으로 피해를 입었습니다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8a3792ea8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최근 계속해서 개인정보 유출 사고가 발생하고 있으며</a:t>
            </a:r>
            <a:endParaRPr lang="en-US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en-US" dirty="0" err="1"/>
              <a:t>대성마이맥</a:t>
            </a:r>
            <a:r>
              <a:rPr lang="ko-KR" altLang="en-US" dirty="0"/>
              <a:t> 사례를 보시면 계정 탈취는 이후 더 큰 위험으로 이어질 수 있습니다</a:t>
            </a:r>
            <a:r>
              <a:rPr lang="en-US" altLang="ko-KR" dirty="0"/>
              <a:t>.</a:t>
            </a:r>
          </a:p>
        </p:txBody>
      </p:sp>
      <p:sp>
        <p:nvSpPr>
          <p:cNvPr id="143" name="Google Shape;143;g3e8a3792ea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8a3792ea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이러한 패스워드 기반 인증 취약점을 보완하기 위해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많은 서비스가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MFA,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즉 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다요소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인증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도입하고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MFA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도입할 경우 계정 탈취 공격을 약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98.56%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까지 차단할 수 있다는 연구결과도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이처럼 패스워드의 취약점을 보완하기 위해 다요소인증을 도입하는 것이 보안상 매우 효과적이라는 사실은 이미 모두가 잘 알고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하지만 이처럼 보안성이 우수하다는 것을 알면서도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실제 사용자가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MFA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적극적으로 사용하는 것을 꺼려한다는 점이 가장 큰 한계입니다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아무리 방어력이 높은 보안 시스템이라도 사용자가 불편함을 이유로 기피하거나 우회하려 한다면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실제 환경에서는 그 효용성이 떨어질 수밖에 없는 현실적인 문제를 안고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g3e8a3792ea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앞서 살펴본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문제를 해결하기 위해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본 연구는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비밀번호가 이미 유출되었다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는 가정에서 출발합니다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단순히 유출 자체를 방어하는 수동적인 단계를 넘어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이미 비밀번호가 타인에게 알려진 최악의 상황에서도 </a:t>
            </a:r>
            <a:endParaRPr lang="en-US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시스템이 실제 사용자를 안전하게 식별할 수 있는 방법을 찾고자 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이를 달성하기 위한 구체적인 연구 목표입니다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첫째는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분석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둘째는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위험 기반 인증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결과적으로 보안 수준은 극대화하되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사용자는 추가 인증의 번거로움을 느끼지 못하게 하는 것이 본 연구의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최종적인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목표입니다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8a3792ea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그럼 지금부터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다이나믹스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기반의 사용자 인증 시스템 구현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에 대해 말씀드리겠습니다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g3e8a3792ea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8a3792ea8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저희는 우선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7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자리의 고정된 비밀번호를 설정하고 세션당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15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회씩 타건 패턴을 의도적으로 달리하며 데이터를 수집하였습니다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실험 결과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지나치게 높은 정확도로 인해 초기 데이터셋을 통해서는 유의미한 결과를 얻지 못한다고 결론지었습니다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7" name="Google Shape;197;g3e8a3792ea8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8a3792ea8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더 정확한 실험을 위해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저희는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'CMU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벤치마크 데이터셋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도입했습니다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데이터셋은 총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51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명의 피실험자를 대상으로 인당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8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개 세션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세션당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50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회씩 총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400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회의 타건 입력을 수행한 데이터입니다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특히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시간 경과에 따른 사용자의 패턴 변화를 반영하기 위해 각 세션 간 최소 하루 이상의 간격을 두고 측정되었습니다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데이터셋에 포함된 핵심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속성 세 가지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바탕으로 분석을 진행했습니다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21" name="Google Shape;221;g3e8a3792ea8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8a3792ea8_0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본 프로젝트에서는 먼저 데이터의 분포를 맞추기 위해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Standard Scaler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와 이상치에 강한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Robust Scaler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함께 검토하며 전처리를 적용했습니다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시스템의 보안 성능을 평가하기 위한 지표로는 세 가지를 사용했습니다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타인을 나로 인식하는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오인식률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(FAR),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나를 타인으로 인식해 거부하는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오거부율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(FRR).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그리고 두 오류율이 일치하는 균형점인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EER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EER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최종 성능 지표로 삼고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수치를 최소화하는 방향으로 모델을 최적화해 나갔습니다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0" name="Google Shape;250;g3e8a3792ea8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8ee487fe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모델의 평가 방식에 대해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설명드리겠습니다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먼저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Holdout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방식은 데이터를 단순히 훈련용과 테스트용으로 분할하는 기법입니다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이를 보완하기 위해 전체 데이터 중 단 하나의 샘플만 테스트에 사용하는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LOO-CV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세션 단위로 나누어 검증하는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LOSO-CV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방식을 검토했습니다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특히 저희는 시계열 흐름에 따라 연속된 데이터를 순차적으로 반영하는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Sliding Window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방식까지 고려하였습니다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e8ee487fe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8ee487fe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One-Class SVM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모델을 최적화해 나간 첫 번째 실험 과정입니다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처음에는 가장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기본적인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Holdout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방식을 사용했으나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데이터를 분할하는 지점에 따라 성능 수치가 불안정하게 변하는 문제를 확인하였고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이를 해결하고자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LOSO-CV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방식으로 전환하였습니다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 결과 성능이 향상되었으나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참고 논문의 정확도에는 아직 미치지 못했습니다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Robust Scaler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사용한 경우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FRR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은 감소하였지만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FAR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증가하였음을 볼 수 있습니다</a:t>
            </a:r>
            <a:endParaRPr dirty="0"/>
          </a:p>
        </p:txBody>
      </p:sp>
      <p:sp>
        <p:nvSpPr>
          <p:cNvPr id="296" name="Google Shape;296;g3e8ee487fe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8ee487fe8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두 번째 최적화 실험에서는 다양한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임계값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설정과 튜닝을 통해 균형점을 찾는 데 집중했습니다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표에서 보시는 것처럼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보안을 엄격하게 한다면 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오거부율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증가하며 느슨하게 하면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오인식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률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증가하게 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결과적으로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K-S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검정과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KNN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결합한 방식을 적용했을 때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참고 논문과 유사한 수준의 정확도를 확보하는 데 성공했습니다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8" name="Google Shape;328;g3e8ee487fe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8ee487fe8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저희는 맨해튼 거리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마할라노비스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거리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그리고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Isolation Forest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등 여러 방식을 검증해 보았습니다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실험 결과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Standard Scaler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와 결합한 맨해튼 거리 방식이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LOSO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검증 기준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8.58%, </a:t>
            </a:r>
          </a:p>
          <a:p>
            <a:pPr latinLnBrk="1"/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LOO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기준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8.51%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의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EER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기록하며 가장 우수한 성능을 보여주었습니다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</p:txBody>
      </p:sp>
      <p:sp>
        <p:nvSpPr>
          <p:cNvPr id="357" name="Google Shape;357;g3e8ee487fe8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8ee487fe8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이러한 실험 결과를 바탕으로 저희 프로젝트의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최종 인증 알고리즘으로 맨해튼 거리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(Manhattan Distance)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선정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선정한 이유는 크게 세 가지입니다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첫째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앞서 보신 것처럼 가장 우수한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정확도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보여주었기 때문입니다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둘째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복잡한 행렬 연산 없이 단순 절대값 차이의 합산만으로 동작하여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연산 복잡도가 극도로 낮습니다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마지막으로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복잡한 튜닝 없이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소량의 데이터셋만으로도 사용할 수 있는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경량성을 갖추고 있다는 점을 높게 평가했습니다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6" name="Google Shape;386;g3e8ee487fe8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aae8833b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실제 사용자들의 데이터를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시각화하여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분석한 내용을 공유해 드리겠습니다</a:t>
            </a:r>
            <a:endParaRPr dirty="0"/>
          </a:p>
        </p:txBody>
      </p:sp>
      <p:sp>
        <p:nvSpPr>
          <p:cNvPr id="403" name="Google Shape;403;g3eaae8833b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aae8833b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화면의 그래프는 특정 사용자들의 세션별 평균 입력 변화를 보여줍니다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보편적으로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세션이 뒤로 갈수록 전체 입력 시간이 점차 짧아지는 경향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확인할 수 있으며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동일한 사용자라도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세션 간 입력 데이터에 분명한 편차가 존재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함을 알 수 있었습니다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9" name="Google Shape;409;g3eaae8833b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aae8833b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여기서 저희는 중요한 시사점을 얻었습니다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기존에 사용했던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ＬＯＳＯ－ＣＶ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LOO-CV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같은 방식은 이러한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시간의 흐름에 따른 사용자의 변화를 제대로 반영하지 못한다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는 한계가 있었습니다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저희는 이 분석 결과를 근거로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시간적 흐름을 반영할 수 있도록 평가 방식을 새롭게 개선하기로 결정했습니다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5" name="Google Shape;415;g3eaae8833b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8ee487fe8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앞서 말씀드린 시간의 흐름을 반영하기 위해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저희는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슬라이딩 윈도우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(Sliding Window)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방식을 적용하여 실험을 진행했습니다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윈도우 크기를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부터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까지 변화시키며 평균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EER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측정해 본 결과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윈도우 크기가 커질수록 성능이 점차 개선되는 양상을 확인했습니다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그중에서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저희는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최적의 윈도우 크기를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'3'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으로 결정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크기를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4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로 늘렸을 때의 이점인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0.02%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보다 적은 양의 데이터를 사용한다는 이점이 더 크다고 판단하였기 때문입니다</a:t>
            </a:r>
            <a:endParaRPr dirty="0"/>
          </a:p>
        </p:txBody>
      </p:sp>
      <p:sp>
        <p:nvSpPr>
          <p:cNvPr id="421" name="Google Shape;421;g3e8ee487fe8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8ee487fe8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이어서 실제 구현 단계에서 정밀도를 높이기 위해 적용한 두 가지 기법을 설명해 드리겠습니다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첫 번째는 피처 개수 정규화입니다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맨해튼 거리는 오차를 단순히 합산하기 때문에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비밀번호 글자 수가 많을수록 총 거리가 무조건 커지는 왜곡이 발생합니다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이를 해결하기 위해 저희는 최종 거리를 총 피처 개수로 나누어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정규화했습니다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두 번째는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동적 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임계값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설정입니다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사용자의 타건 평균값에 표준편차의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배만큼을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더해 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임계값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산출하는 방식을 사용했습니다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실험 결과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k=3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적용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했을 때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오거부율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3.13%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기록하며 </a:t>
            </a:r>
            <a:endParaRPr lang="en-US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사용자의 편의성을 최대한 보장하면서도 적절한 보안 수준을 유지할 수 있음을 확인하여 이를 최종 선정했습니다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1" name="Google Shape;441;g3e8ee487fe8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8ee487fe8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지금부터는 프로젝트의 두 번째 파트인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'RBA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기반 사용자 인증 시스템 구현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과정에 대해 말씀드리겠습니다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7" name="Google Shape;477;g3e8ee487fe8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8ee487fe8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다음은 저희가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RBA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모델의 성능을 측정하기 위해 사용한 네 가지 평가지표입니다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1" name="Google Shape;511;g3e8ee487fe8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e8ee487fe8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먼저 모델 학습을 위해 가상 사용자 시나리오를 설계하고 데이터를 모델링했습니다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하지만 앞선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초기 데이터와 마찬가지로 한계점이 존재했습니다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5" name="Google Shape;485;g3e8ee487fe8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e8ee487fe8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표에서 보시는 것처럼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KNN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과 랜덤 포레스트 모델 모두 모든 지표에서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1.0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이라는 수치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기록했습니다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이로 인해 모델 간의 비교나 실제 성능을 검증하는 것이 불가능하다고 판단하였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으며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endParaRPr lang="en-US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더 정교한 데이터셋이 필요함을 인지했습니다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3" name="Google Shape;533;g3e8ee487fe8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e8ee487fe8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앞선 한계를 극복하기 위해 저희가 새롭게 도입한 데이터는 </a:t>
            </a:r>
            <a:endParaRPr lang="en-US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노르웨이의 대규모 온라인 서비스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에서 수집한 실제 로그인 로그 기반의 데이터셋입니다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저희는 먼저 원천 데이터에 포함된 다수의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결측치를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제거하는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전처리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과정을 거쳤습니다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이후 보다 정밀한 분석을 위해 인당 최소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20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건에서 최대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880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건의 로그를 보유한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표본 사용자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명을 추출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데이터셋에는 실제 위험 탐지에 핵심적인 속성들이 포함되어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9" name="Google Shape;579;g3e8ee487fe8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e8ee487fe8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먼저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KNN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모델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평가한 결과입니다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전체 평균 정확도 약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0.98, F1-Score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는 약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0.91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이라는 지표를 기록했습니다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endParaRPr lang="en-US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Random Forest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모델의 경우 평균 정확도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0.99,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재현율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0.99, F1-score 0.99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라는 압도적인 수치를 보여주었습니다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9" name="Google Shape;609;g3e8ee487fe8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e8ee487fe8_0_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두 알고리즘을 테스트한 결과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저희는 랜덤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포레스트를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최종 모델로 채택하였습니다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랜덤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포레스트는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다수의 의사결정나무 투표 결과를 기반으로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확률값을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산출할 수 있다는 장점이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또한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OS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나 브라우저 같은 범주형 데이터와 접속 시간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속도 같은 수치형 데이터를 복잡한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전처리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없이도 효과적으로 처리하며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어떤 속성이 위험 판단에 기여했는지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시각화할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수 있어 보안 모델의 설명 가능성까지 확보할 수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가장 중요한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성능 면에서도 앞서 보신 바와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KNN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모델을 모든 지표에서 압도했습니다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5" name="Google Shape;695;g3e8ee487fe8_0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e8ee487fe8_0_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모델의 성능을 더욱 정교하게 다듬기 위해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데이터셋 내 속성들 간의 관계를 분석해 보았습니다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화면에 보이는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히트맵은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데이터셋 내부 속성들이 서로 어느 정도의 상관관계를 가지고 있는지를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수치화하여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플롯으로 나타낸 결과입니다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732" name="Google Shape;732;g3e8ee487fe8_0_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e8ee487fe8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상관관계 분석을 토대로 특정 속성을 제외했을 때 모델 성능이 어떻게 변하는지 실험해 보았습니다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실험 결과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도시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지역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국가와 같은 지리 정보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는 단독으로 배제하더라도 성능 변화가 거의 없었습니다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이는 해당 피처들 간의 정보 중복성이 높다는 점을 시사합니다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1" name="Google Shape;741;g3e8ee487fe8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e8ee487fe8_0_8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앞선 분석 결과를 바탕으로 한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최종 속성 선정과 위험 스코어링 설계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에 대해 말씀드리겠습니다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저희는 상관관계 분석 결과에 따라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제거 시 성능 하락을 일으키는 핵심 속성들은 유지하고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제거 시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지표에 영향이 없는 중복 속성들은 제거하여 모델을 최적화했습니다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또한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현재 데이터셋에는 없지만 선행 연구에서 보안성이 검증된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해상도나 언어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속성을 수집하여 적용하기로 결정했습니다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이렇게 도출된 랜덤 포레스트 모델의 확률 값을 활용해 저희는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단계 인증 체계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구축했습니다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접속 환경의 신뢰도가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75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점 이상인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안전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(Safe)'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등급의 경우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별도의 추가 인증 없이 즉시 로그인을 승인합니다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반면 신뢰도가 그보다 낮은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중간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이나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위험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등급으로 분류될 경우 단계별로 추가 검증을 요구하도록 설계하여 보안 수준을 유연하게 조절하였습니다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1" name="Google Shape;801;g3e8ee487fe8_0_8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eaae8833bd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지금부터는 앞서 설명해 드린 연구 내용들을 실제 시스템으로 어떻게 구현했는지 말씀드리겠습니다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저희는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다이나믹스와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RBA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연구를 종합하여 실질적인 시스템을 설계했습니다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프론트엔드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에서는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사용자의 실시간 타건 이벤트와 인증에 필요한 데이터를 수집하고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latinLnBrk="1"/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백엔드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에서는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수집한 데이터를 저장 및 분석하여 최종 인증 결과를 반환하는 구조를 갖추었습니다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3" name="Google Shape;823;g3eaae8833bd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eaae8833b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 시스템의 전체적인 인증 로직을 담은 플로우 차트입니다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여기서 흐름을 보시면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인증 결과가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실패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로 나오더라도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RBA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등급이 안전일 때 최종적으로 로그인이 승인되는 경로를 확인하실 수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부분에 대해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'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검증을 통과하지 못했는데 왜 로그인이 성공하는가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?'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하는 의구심이 드실 수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하지만 앞선 실험 결과에서 보셨듯이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랜덤 포레스트 기반의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RBA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모델은 매우 높은 정확도와 재현율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입증했습니다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반면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다이나믹스는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사용자의 컨디션이나 환경에 따라 타건 리듬이 변할 수 있는 변동성을 가집니다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따라서 저희는 신뢰도가 더 높은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RBA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주된 판단 근거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로 삼고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다이나믹스는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이를 보완하는 보조 지표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로 활용하도록 설계했습니다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1" name="Google Shape;831;g3eaae8833b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eaae8833bd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다음은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프론트엔드와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백엔드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간의 데이터 교환 흐름을 보여주는 시퀀스 다이어그램입니다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먼저 사용자가 로그인을 시도하면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프론트엔드에서는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아이디와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비밀번호뿐만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아니라 타건 데이터와 접속 환경 정보를 함께 수집하여 서버로 전송합니다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서버는 이 데이터를 받아 데이터베이스에 저장된 해당 사용자의 기존 타건 프로파일 및 과거 접속 로그와 대조하는 분석 과정을 거칩니다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8" name="Google Shape;838;g3eaae8833bd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eaae8833bd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최종적으로 시스템은 분석 결과에 따라 즉시 로그인을 승인할지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아니면 추가적인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차 인증을 요구할지를 결정하여 그 결과를 다시 사용자에게 반환하게 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5" name="Google Shape;845;g3eaae8833bd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>
          <a:extLst>
            <a:ext uri="{FF2B5EF4-FFF2-40B4-BE49-F238E27FC236}">
              <a16:creationId xmlns:a16="http://schemas.microsoft.com/office/drawing/2014/main" id="{5FA54D4F-28F2-F813-2341-D173B9856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eaae8833bd_0_310:notes">
            <a:extLst>
              <a:ext uri="{FF2B5EF4-FFF2-40B4-BE49-F238E27FC236}">
                <a16:creationId xmlns:a16="http://schemas.microsoft.com/office/drawing/2014/main" id="{E7BDC40A-DB6F-7F5C-7FE1-8D14B3A0F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회원가입 단계에서는 사용자의 아이디와 비밀번호 정보 뿐만 아니라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프로필도 함께 등록합니다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사용자는 설정한 비밀번호를 동일한 방식으로 반복 입력하며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시스템은 입력 과정에서 발생하는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Key Down, Key Up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이벤트를 실시간으로 수집합니다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오타 없이 정확하게 입력된 데이터만 선별하여 총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15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회의 타이핑 샘플을 확보하며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이를 사용자의 기준 프로필로 저장합니다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15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회의 데이터 수집이 완료되면 회원가입 버튼이 활성화되며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생성된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프로필과 환경 정보가 함께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백엔드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DB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에 저장됩니다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2" name="Google Shape;852;g3eaae8833bd_0_310:notes">
            <a:extLst>
              <a:ext uri="{FF2B5EF4-FFF2-40B4-BE49-F238E27FC236}">
                <a16:creationId xmlns:a16="http://schemas.microsoft.com/office/drawing/2014/main" id="{908859C1-3604-6EA8-AED6-0630146217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30379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eaae8833bd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프론트엔드에서는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크게 두 종류의 데이터를 수집합니다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첫 번째는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RBA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위한 환경 정보입니다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사용자의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IP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주소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국가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도시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통신사 정보 등을 수집하여 접속 환경을 식별합니다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두 번째는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데이터입니다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Key Down, Key Up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이벤트를 기반으로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특징값을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추출합니다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추출된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특징값은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CMU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벤치마크 형식의 벡터로 변환되어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백엔드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보안 모델의 입력 데이터로 사용됩니다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2" name="Google Shape;852;g3eaae8833bd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>
          <a:extLst>
            <a:ext uri="{FF2B5EF4-FFF2-40B4-BE49-F238E27FC236}">
              <a16:creationId xmlns:a16="http://schemas.microsoft.com/office/drawing/2014/main" id="{2DDE2F0F-2363-AE31-9F8D-0928EF038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eaae8833bd_0_202:notes">
            <a:extLst>
              <a:ext uri="{FF2B5EF4-FFF2-40B4-BE49-F238E27FC236}">
                <a16:creationId xmlns:a16="http://schemas.microsoft.com/office/drawing/2014/main" id="{5A54F6E7-D4D5-9297-FF35-C27BCB0B5F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회원가입 시 등록된 사용자의 평균 타이핑 패턴과 현재 로그인 시 입력된 타이핑 패턴을 비교하여 시각화한 화면입니다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프론트엔드에서는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Chart.js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활용하여 등록 평균선과 현재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타건선을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Scatter Chart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형태로 출력합니다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사용자의 입력 속도는 매번 달라질 수 있기 때문에 전체 입력 시간을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0.0 ~ 1.0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범위로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정규화하여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상대적인 타이핑 리듬을 비교할 수 있도록 구현하였습니다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4" name="Google Shape;864;g3eaae8833bd_0_202:notes">
            <a:extLst>
              <a:ext uri="{FF2B5EF4-FFF2-40B4-BE49-F238E27FC236}">
                <a16:creationId xmlns:a16="http://schemas.microsoft.com/office/drawing/2014/main" id="{A669AD8B-DFE7-9093-C341-7D75C80FD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7996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ead50317f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수집된 데이터가 서버 측에서 어떻게 관리되는지 말씀드리겠습니다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저희는 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PostgreSQL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메인 데이터베이스로 활용하여 인증에 필요한 정보를 체계적으로 관리하고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데이터베이스는 총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4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개의 핵심 테이블로 운영됩니다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users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테이블에는 계정 정보가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latinLnBrk="1"/>
            <a:r>
              <a:rPr lang="en-US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users_keystroke_profiles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에는 가입 시 등록한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15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회의 타건 데이터가 저장됩니다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또한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실제 로그인 시마다 발생하는 타건 리듬은 </a:t>
            </a:r>
            <a:r>
              <a:rPr lang="en-US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keystroke_logs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에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그리고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RBA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분석을 위한 접속 환경 정보는 </a:t>
            </a:r>
            <a:r>
              <a:rPr lang="en-US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rba_ready_to_train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테이블에 각각 적재되어 실시간 분석 및 모델 학습의 기초 자료로 활용됩니다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3" name="Google Shape;873;g3ead50317f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eaae8833bd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ko-KR" altLang="ko-KR" sz="1100" b="1" dirty="0"/>
              <a:t>회원가입 프로필 등록</a:t>
            </a:r>
          </a:p>
          <a:p>
            <a:r>
              <a:rPr lang="ko-KR" altLang="ko-KR" b="0" dirty="0"/>
              <a:t>회원가입 시 사용자는 비밀번호를 15회 반복 입력합니다.</a:t>
            </a:r>
          </a:p>
          <a:p>
            <a:r>
              <a:rPr lang="ko-KR" altLang="ko-KR" b="0" dirty="0"/>
              <a:t>시스템은 입력 과정에서 </a:t>
            </a:r>
            <a:r>
              <a:rPr lang="ko-KR" altLang="ko-KR" b="0" dirty="0" err="1"/>
              <a:t>키스트로크</a:t>
            </a:r>
            <a:r>
              <a:rPr lang="ko-KR" altLang="ko-KR" b="0" dirty="0"/>
              <a:t> 데이터를 수집하여 사용자의 기준 타이핑 프로필을 생성하고 </a:t>
            </a:r>
            <a:r>
              <a:rPr lang="ko-KR" altLang="ko-KR" b="0" dirty="0" err="1"/>
              <a:t>DB에</a:t>
            </a:r>
            <a:r>
              <a:rPr lang="ko-KR" altLang="ko-KR" b="0" dirty="0"/>
              <a:t> 저장합니다.</a:t>
            </a:r>
          </a:p>
          <a:p>
            <a:r>
              <a:rPr lang="ko-KR" altLang="ko-KR" b="0" dirty="0"/>
              <a:t>이후 로그인 시 현재 입력 패턴과 비교하여 사용자를 검증하게 됩니다.</a:t>
            </a:r>
            <a:endParaRPr lang="en-US" altLang="ko-KR" b="0" dirty="0"/>
          </a:p>
          <a:p>
            <a:endParaRPr lang="ko-KR" altLang="ko-KR" b="0" dirty="0"/>
          </a:p>
          <a:p>
            <a:pPr marL="158750" indent="0">
              <a:buNone/>
            </a:pPr>
            <a:r>
              <a:rPr lang="ko-KR" altLang="ko-KR" b="1" dirty="0"/>
              <a:t>시나리오 연결 멘트</a:t>
            </a:r>
          </a:p>
          <a:p>
            <a:r>
              <a:rPr lang="ko-KR" altLang="ko-KR" dirty="0"/>
              <a:t>지금부터는 실제 로그인 시나리오를 통해 </a:t>
            </a:r>
            <a:r>
              <a:rPr lang="ko-KR" altLang="ko-KR" dirty="0" err="1"/>
              <a:t>키스트로크</a:t>
            </a:r>
            <a:r>
              <a:rPr lang="ko-KR" altLang="ko-KR" dirty="0"/>
              <a:t> 인증과 </a:t>
            </a:r>
            <a:r>
              <a:rPr lang="ko-KR" altLang="ko-KR" dirty="0" err="1"/>
              <a:t>RBA가</a:t>
            </a:r>
            <a:r>
              <a:rPr lang="ko-KR" altLang="ko-KR" dirty="0"/>
              <a:t> 어떻게 동작하는지 보여드리겠습니다.</a:t>
            </a:r>
          </a:p>
          <a:p>
            <a:r>
              <a:rPr lang="ko-KR" altLang="ko-KR" dirty="0"/>
              <a:t>정상 사용자, 위험 환경, 추가 인증, 접근 차단의 네 가지 상황을 순서대로 시연하겠습니다.</a:t>
            </a:r>
          </a:p>
          <a:p>
            <a:r>
              <a:rPr lang="ko-KR" altLang="ko-KR" dirty="0"/>
              <a:t>먼저 정상 사용자 계정으로 로그인하겠습니다.</a:t>
            </a:r>
          </a:p>
          <a:p>
            <a:r>
              <a:rPr lang="ko-KR" altLang="ko-KR" dirty="0" err="1"/>
              <a:t>키스트로크</a:t>
            </a:r>
            <a:r>
              <a:rPr lang="ko-KR" altLang="ko-KR" dirty="0"/>
              <a:t> 패턴도 회원가입 당시와 유사하고,</a:t>
            </a:r>
            <a:r>
              <a:rPr lang="en-US" altLang="ko-KR" dirty="0"/>
              <a:t> </a:t>
            </a:r>
            <a:r>
              <a:rPr lang="ko-KR" altLang="ko-KR" dirty="0"/>
              <a:t>접속 환경도 기존에 학습된 환경과 동일합니다.</a:t>
            </a:r>
          </a:p>
          <a:p>
            <a:r>
              <a:rPr lang="ko-KR" altLang="ko-KR" dirty="0"/>
              <a:t>따라서 </a:t>
            </a:r>
            <a:r>
              <a:rPr lang="ko-KR" altLang="ko-KR" dirty="0" err="1"/>
              <a:t>키스트로크</a:t>
            </a:r>
            <a:r>
              <a:rPr lang="ko-KR" altLang="ko-KR" dirty="0"/>
              <a:t> 검증은 성공하고,</a:t>
            </a:r>
            <a:r>
              <a:rPr lang="en-US" altLang="ko-KR" dirty="0"/>
              <a:t> </a:t>
            </a:r>
            <a:r>
              <a:rPr lang="ko-KR" altLang="ko-KR" dirty="0"/>
              <a:t>RBA 역시 높은 신뢰도를 반환합니다.</a:t>
            </a:r>
            <a:endParaRPr lang="en-US" altLang="ko-KR" dirty="0"/>
          </a:p>
          <a:p>
            <a:pPr marL="158750" indent="0">
              <a:buNone/>
            </a:pPr>
            <a:endParaRPr lang="en-US" altLang="ko-KR" dirty="0"/>
          </a:p>
          <a:p>
            <a:pPr marL="158750" indent="0">
              <a:buNone/>
            </a:pPr>
            <a:r>
              <a:rPr lang="ko-KR" altLang="ko-KR" b="1" dirty="0"/>
              <a:t>실시간 타건 리듬 시각화</a:t>
            </a:r>
          </a:p>
          <a:p>
            <a:r>
              <a:rPr lang="ko-KR" altLang="ko-KR" dirty="0"/>
              <a:t>(시각화 표를 마우스 커서로 보여주며)</a:t>
            </a:r>
          </a:p>
          <a:p>
            <a:r>
              <a:rPr lang="ko-KR" altLang="ko-KR" dirty="0"/>
              <a:t>로그인 시 현재 타이핑 패턴과 회원가입 시 등록된 평균 패턴을 시각적으로 비교할 수 있습니다.</a:t>
            </a:r>
          </a:p>
          <a:p>
            <a:r>
              <a:rPr lang="ko-KR" altLang="ko-KR" dirty="0"/>
              <a:t>또한 </a:t>
            </a:r>
            <a:r>
              <a:rPr lang="ko-KR" altLang="ko-KR" dirty="0" err="1"/>
              <a:t>백엔드에서</a:t>
            </a:r>
            <a:r>
              <a:rPr lang="ko-KR" altLang="ko-KR" dirty="0"/>
              <a:t> 계산한 </a:t>
            </a:r>
            <a:r>
              <a:rPr lang="ko-KR" altLang="ko-KR" dirty="0" err="1"/>
              <a:t>거리값과</a:t>
            </a:r>
            <a:r>
              <a:rPr lang="ko-KR" altLang="ko-KR" dirty="0"/>
              <a:t> </a:t>
            </a:r>
            <a:r>
              <a:rPr lang="ko-KR" altLang="ko-KR" dirty="0" err="1"/>
              <a:t>임계값</a:t>
            </a:r>
            <a:r>
              <a:rPr lang="ko-KR" altLang="ko-KR" dirty="0"/>
              <a:t>, 인증 결과를 함께 표시하여 인증 과정을 직관적으로 확인할 수 있습니다.</a:t>
            </a:r>
            <a:endParaRPr lang="en-US" altLang="ko-KR" dirty="0"/>
          </a:p>
          <a:p>
            <a:pPr lvl="1"/>
            <a:r>
              <a:rPr lang="ko-KR" altLang="en-US" dirty="0"/>
              <a:t>결과</a:t>
            </a:r>
            <a:endParaRPr lang="en-US" altLang="ko-KR" dirty="0"/>
          </a:p>
          <a:p>
            <a:r>
              <a:rPr lang="ko-KR" altLang="ko-KR" dirty="0"/>
              <a:t>사용자는 추가 인증 없이 바로 </a:t>
            </a:r>
            <a:r>
              <a:rPr lang="ko-KR" altLang="ko-KR" dirty="0" err="1"/>
              <a:t>로그인됩니다</a:t>
            </a:r>
            <a:r>
              <a:rPr lang="ko-KR" altLang="ko-KR" dirty="0"/>
              <a:t>.</a:t>
            </a:r>
            <a:endParaRPr lang="en-US" altLang="ko-KR" dirty="0"/>
          </a:p>
          <a:p>
            <a:endParaRPr lang="en-US" altLang="ko-KR" dirty="0"/>
          </a:p>
          <a:p>
            <a:pPr marL="158750" indent="0">
              <a:buNone/>
            </a:pPr>
            <a:r>
              <a:rPr lang="ko-KR" altLang="ko-KR" dirty="0"/>
              <a:t>시나리오 2</a:t>
            </a:r>
            <a:endParaRPr lang="en-US" altLang="ko-KR" dirty="0"/>
          </a:p>
          <a:p>
            <a:pPr marL="158750" indent="0">
              <a:buNone/>
            </a:pPr>
            <a:r>
              <a:rPr lang="ko-KR" altLang="ko-KR" b="1" dirty="0"/>
              <a:t>발표 멘트</a:t>
            </a:r>
          </a:p>
          <a:p>
            <a:r>
              <a:rPr lang="ko-KR" altLang="ko-KR" dirty="0"/>
              <a:t>이번에는 같은 사용자이지만 접속 환경을 변경하겠습니다.</a:t>
            </a:r>
          </a:p>
          <a:p>
            <a:r>
              <a:rPr lang="ko-KR" altLang="ko-KR" dirty="0"/>
              <a:t>비밀번호와 타이핑 습관은 동일하지만,</a:t>
            </a:r>
            <a:r>
              <a:rPr lang="en-US" altLang="ko-KR" dirty="0"/>
              <a:t> </a:t>
            </a:r>
            <a:r>
              <a:rPr lang="ko-KR" altLang="ko-KR" dirty="0"/>
              <a:t>국가, 네트워크 환경, 브라우저 정보 등을 변경해</a:t>
            </a:r>
          </a:p>
          <a:p>
            <a:r>
              <a:rPr lang="ko-KR" altLang="ko-KR" dirty="0"/>
              <a:t>평소와 다른 환경에서 로그인하는 상황을 가정했습니다.</a:t>
            </a:r>
          </a:p>
          <a:p>
            <a:r>
              <a:rPr lang="ko-KR" altLang="ko-KR" dirty="0" err="1"/>
              <a:t>키스트로크는</a:t>
            </a:r>
            <a:r>
              <a:rPr lang="ko-KR" altLang="ko-KR" dirty="0"/>
              <a:t> 정상으로 판단되지만</a:t>
            </a:r>
            <a:r>
              <a:rPr lang="en-US" altLang="ko-KR" dirty="0"/>
              <a:t> </a:t>
            </a:r>
            <a:r>
              <a:rPr lang="ko-KR" altLang="ko-KR" dirty="0" err="1"/>
              <a:t>RBA가</a:t>
            </a:r>
            <a:r>
              <a:rPr lang="ko-KR" altLang="ko-KR" dirty="0"/>
              <a:t> 위험 환경으로 분류합니다.</a:t>
            </a:r>
            <a:endParaRPr lang="en-US" altLang="ko-KR" dirty="0"/>
          </a:p>
          <a:p>
            <a:pPr lvl="1"/>
            <a:r>
              <a:rPr lang="ko-KR" altLang="en-US" dirty="0"/>
              <a:t>결과</a:t>
            </a:r>
            <a:endParaRPr lang="en-US" altLang="ko-KR" dirty="0"/>
          </a:p>
          <a:p>
            <a:r>
              <a:rPr lang="ko-KR" altLang="ko-KR" dirty="0"/>
              <a:t>비밀번호를 알고 있고 타이핑도 비슷하지만,</a:t>
            </a:r>
            <a:r>
              <a:rPr lang="en-US" altLang="ko-KR" dirty="0"/>
              <a:t> </a:t>
            </a:r>
            <a:r>
              <a:rPr lang="ko-KR" altLang="ko-KR" dirty="0"/>
              <a:t>환경이 다르기 때문에 추가 인증을 요구합니다.</a:t>
            </a:r>
          </a:p>
          <a:p>
            <a:pPr marL="615950" lvl="1" indent="0">
              <a:buNone/>
            </a:pPr>
            <a:endParaRPr lang="ko-KR" altLang="ko-KR" dirty="0"/>
          </a:p>
          <a:p>
            <a:pPr marL="158750" indent="0">
              <a:buNone/>
            </a:pPr>
            <a:r>
              <a:rPr lang="ko-KR" altLang="ko-KR" dirty="0"/>
              <a:t>시나리오 3</a:t>
            </a:r>
            <a:endParaRPr lang="en-US" altLang="ko-KR" dirty="0"/>
          </a:p>
          <a:p>
            <a:pPr marL="158750" indent="0">
              <a:buNone/>
            </a:pPr>
            <a:r>
              <a:rPr lang="ko-KR" altLang="ko-KR" b="1" dirty="0"/>
              <a:t>발표 멘트</a:t>
            </a:r>
          </a:p>
          <a:p>
            <a:r>
              <a:rPr lang="ko-KR" altLang="ko-KR" dirty="0"/>
              <a:t>이번에는 반대 상황입니다.</a:t>
            </a:r>
            <a:r>
              <a:rPr lang="en-US" altLang="ko-KR" dirty="0"/>
              <a:t> </a:t>
            </a:r>
          </a:p>
          <a:p>
            <a:r>
              <a:rPr lang="ko-KR" altLang="ko-KR" dirty="0"/>
              <a:t>접속 환경은 기존과 동일하지만,</a:t>
            </a:r>
            <a:r>
              <a:rPr lang="en-US" altLang="ko-KR" dirty="0"/>
              <a:t> </a:t>
            </a:r>
            <a:r>
              <a:rPr lang="ko-KR" altLang="ko-KR" dirty="0" err="1"/>
              <a:t>키스트로크</a:t>
            </a:r>
            <a:r>
              <a:rPr lang="ko-KR" altLang="ko-KR" dirty="0"/>
              <a:t> 데이터를 의도적으로 변형하여</a:t>
            </a:r>
            <a:r>
              <a:rPr lang="en-US" altLang="ko-KR" dirty="0"/>
              <a:t> </a:t>
            </a:r>
            <a:r>
              <a:rPr lang="ko-KR" altLang="ko-KR" dirty="0"/>
              <a:t>사용자의 타이핑 패턴과 다르게 만들었습니다.</a:t>
            </a:r>
          </a:p>
          <a:p>
            <a:r>
              <a:rPr lang="ko-KR" altLang="ko-KR" dirty="0"/>
              <a:t>따라서 </a:t>
            </a:r>
            <a:r>
              <a:rPr lang="ko-KR" altLang="ko-KR" dirty="0" err="1"/>
              <a:t>키스트로크</a:t>
            </a:r>
            <a:r>
              <a:rPr lang="ko-KR" altLang="ko-KR" dirty="0"/>
              <a:t> 검증은 실패하지만,</a:t>
            </a:r>
            <a:r>
              <a:rPr lang="en-US" altLang="ko-KR" dirty="0"/>
              <a:t> </a:t>
            </a:r>
            <a:r>
              <a:rPr lang="ko-KR" altLang="ko-KR" dirty="0" err="1"/>
              <a:t>RBA는</a:t>
            </a:r>
            <a:r>
              <a:rPr lang="ko-KR" altLang="ko-KR" dirty="0"/>
              <a:t> 매우 안전한 환경으로 판단합니다.</a:t>
            </a:r>
            <a:endParaRPr lang="en-US" altLang="ko-KR" dirty="0"/>
          </a:p>
          <a:p>
            <a:pPr lvl="1"/>
            <a:r>
              <a:rPr lang="ko-KR" altLang="en-US" dirty="0"/>
              <a:t>결과</a:t>
            </a:r>
            <a:endParaRPr lang="en-US" altLang="ko-KR" dirty="0"/>
          </a:p>
          <a:p>
            <a:r>
              <a:rPr lang="ko-KR" altLang="ko-KR" dirty="0"/>
              <a:t>현재 정책에서는 환경 신뢰도가 매우 높은 경우</a:t>
            </a:r>
            <a:r>
              <a:rPr lang="en-US" altLang="ko-KR" dirty="0"/>
              <a:t> </a:t>
            </a:r>
            <a:r>
              <a:rPr lang="ko-KR" altLang="ko-KR" dirty="0"/>
              <a:t>사용성을 고려하여 로그인을 허용하도록 설계했습니다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158750" indent="0">
              <a:buNone/>
            </a:pPr>
            <a:r>
              <a:rPr lang="ko-KR" altLang="ko-KR" dirty="0"/>
              <a:t>시나리오 4</a:t>
            </a:r>
          </a:p>
          <a:p>
            <a:pPr marL="158750" indent="0">
              <a:buNone/>
            </a:pPr>
            <a:r>
              <a:rPr lang="ko-KR" altLang="ko-KR" b="1" dirty="0"/>
              <a:t>발표 멘트</a:t>
            </a:r>
          </a:p>
          <a:p>
            <a:r>
              <a:rPr lang="ko-KR" altLang="ko-KR" dirty="0"/>
              <a:t>마지막은 공격 시나리오입니다.</a:t>
            </a:r>
          </a:p>
          <a:p>
            <a:r>
              <a:rPr lang="ko-KR" altLang="ko-KR" dirty="0"/>
              <a:t>타이핑 패턴도 사용자가 아니고,</a:t>
            </a:r>
            <a:r>
              <a:rPr lang="en-US" altLang="ko-KR" dirty="0"/>
              <a:t> </a:t>
            </a:r>
            <a:r>
              <a:rPr lang="ko-KR" altLang="ko-KR" dirty="0"/>
              <a:t>접속 환경도 기존과 완전히 다릅니다.</a:t>
            </a:r>
          </a:p>
          <a:p>
            <a:r>
              <a:rPr lang="ko-KR" altLang="ko-KR" dirty="0"/>
              <a:t>두 보안 엔진이 모두 위험 신호를 감지했기 때문에</a:t>
            </a:r>
            <a:r>
              <a:rPr lang="en-US" altLang="ko-KR" dirty="0"/>
              <a:t> </a:t>
            </a:r>
            <a:r>
              <a:rPr lang="ko-KR" altLang="ko-KR" dirty="0"/>
              <a:t>시스템은 접근을 차단합니다.</a:t>
            </a:r>
            <a:endParaRPr lang="en-US" altLang="ko-KR" dirty="0"/>
          </a:p>
          <a:p>
            <a:pPr lvl="1"/>
            <a:r>
              <a:rPr lang="ko-KR" altLang="en-US" dirty="0"/>
              <a:t>결과</a:t>
            </a:r>
            <a:endParaRPr lang="en-US" altLang="ko-KR" dirty="0"/>
          </a:p>
          <a:p>
            <a:r>
              <a:rPr lang="ko-KR" altLang="ko-KR" dirty="0" err="1"/>
              <a:t>키스트로크</a:t>
            </a:r>
            <a:r>
              <a:rPr lang="ko-KR" altLang="ko-KR" dirty="0"/>
              <a:t> </a:t>
            </a:r>
            <a:r>
              <a:rPr lang="ko-KR" altLang="ko-KR" dirty="0" err="1"/>
              <a:t>다이내믹스와</a:t>
            </a:r>
            <a:r>
              <a:rPr lang="ko-KR" altLang="ko-KR" dirty="0"/>
              <a:t> </a:t>
            </a:r>
            <a:r>
              <a:rPr lang="ko-KR" altLang="ko-KR" dirty="0" err="1"/>
              <a:t>RBA를</a:t>
            </a:r>
            <a:r>
              <a:rPr lang="ko-KR" altLang="ko-KR" dirty="0"/>
              <a:t> 결합함으로써</a:t>
            </a:r>
            <a:r>
              <a:rPr lang="en-US" altLang="ko-KR" dirty="0"/>
              <a:t> </a:t>
            </a:r>
            <a:r>
              <a:rPr lang="ko-KR" altLang="ko-KR" dirty="0"/>
              <a:t>비밀번호가 유출된 상황에서도</a:t>
            </a:r>
            <a:r>
              <a:rPr lang="en-US" altLang="ko-KR" dirty="0"/>
              <a:t> </a:t>
            </a:r>
            <a:r>
              <a:rPr lang="ko-KR" altLang="ko-KR" dirty="0"/>
              <a:t>계정 탈취를 방어할 수 있습니다.</a:t>
            </a:r>
            <a:endParaRPr lang="en-US" altLang="ko-KR" dirty="0"/>
          </a:p>
          <a:p>
            <a:pPr marL="158750" indent="0">
              <a:buNone/>
            </a:pPr>
            <a:endParaRPr lang="en-US" altLang="ko-KR" dirty="0"/>
          </a:p>
          <a:p>
            <a:pPr marL="158750" indent="0">
              <a:buNone/>
            </a:pPr>
            <a:r>
              <a:rPr lang="ko-KR" altLang="en-US" dirty="0"/>
              <a:t>마무리</a:t>
            </a:r>
            <a:endParaRPr lang="ko-KR" altLang="ko-KR" dirty="0"/>
          </a:p>
          <a:p>
            <a:r>
              <a:rPr lang="ko-KR" altLang="ko-KR" dirty="0"/>
              <a:t>정리하면 저희 시스템은 단순히 비밀번호만 검증하지 않고,</a:t>
            </a:r>
            <a:r>
              <a:rPr lang="en-US" altLang="ko-KR" dirty="0"/>
              <a:t> </a:t>
            </a:r>
            <a:r>
              <a:rPr lang="ko-KR" altLang="ko-KR" dirty="0"/>
              <a:t>사용자의 행동 특성인 </a:t>
            </a:r>
            <a:r>
              <a:rPr lang="ko-KR" altLang="ko-KR" dirty="0" err="1"/>
              <a:t>키스트로크</a:t>
            </a:r>
            <a:r>
              <a:rPr lang="ko-KR" altLang="ko-KR" dirty="0"/>
              <a:t> </a:t>
            </a:r>
            <a:r>
              <a:rPr lang="ko-KR" altLang="ko-KR" dirty="0" err="1"/>
              <a:t>다이내믹스와</a:t>
            </a:r>
            <a:endParaRPr lang="ko-KR" altLang="ko-KR" dirty="0"/>
          </a:p>
          <a:p>
            <a:r>
              <a:rPr lang="ko-KR" altLang="ko-KR" dirty="0"/>
              <a:t>접속 환경 기반의 </a:t>
            </a:r>
            <a:r>
              <a:rPr lang="ko-KR" altLang="ko-KR" dirty="0" err="1"/>
              <a:t>RBA를</a:t>
            </a:r>
            <a:r>
              <a:rPr lang="ko-KR" altLang="ko-KR" dirty="0"/>
              <a:t> 함께 분석하여</a:t>
            </a:r>
            <a:r>
              <a:rPr lang="en-US" altLang="ko-KR" dirty="0"/>
              <a:t> </a:t>
            </a:r>
            <a:r>
              <a:rPr lang="ko-KR" altLang="ko-KR" dirty="0"/>
              <a:t>허용(ALLOWED),</a:t>
            </a:r>
            <a:r>
              <a:rPr lang="en-US" altLang="ko-KR" dirty="0"/>
              <a:t> </a:t>
            </a:r>
            <a:r>
              <a:rPr lang="ko-KR" altLang="ko-KR" dirty="0"/>
              <a:t>추가 인증(MFA_REQUIRED),</a:t>
            </a:r>
            <a:r>
              <a:rPr lang="en-US" altLang="ko-KR" dirty="0"/>
              <a:t> </a:t>
            </a:r>
            <a:r>
              <a:rPr lang="ko-KR" altLang="ko-KR" dirty="0"/>
              <a:t>차단(DENIED)의 세 단계 정책을 수행합니다.</a:t>
            </a:r>
          </a:p>
          <a:p>
            <a:r>
              <a:rPr lang="ko-KR" altLang="ko-KR" dirty="0"/>
              <a:t>이를 통해 보안성과 사용성을 동시에 확보할 수 있습니다.</a:t>
            </a:r>
          </a:p>
          <a:p>
            <a:pPr marL="158750" indent="0">
              <a:buNone/>
            </a:pPr>
            <a:endParaRPr lang="ko-KR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3" name="Google Shape;883;g3eaae8833bd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ead50317f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이제 프로젝트를 마무리하며 본 연구의 의의를 정리해 보겠습니다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먼저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패스워드 인증과 생체 인증 방식을 비교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해 보았습니다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표에서 보시는 것처럼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사실 비밀번호 방식은 최신 생체 인증 기술에 비해 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오인식률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(FAR)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과 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오거부율</a:t>
            </a:r>
            <a:r>
              <a:rPr lang="en-US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(FRR)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모두 높은 편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즉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보안성 면에서는 타인에게 뚫릴 위험이 더 크고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편의성 면에서도 본인을 제대로 인식하지 못하는 경우가 더 잦으며 로그인 시간 또한 상대적으로 깁니다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그럼에도 불구하고 비밀번호 방식이 여전히 가장 널리 쓰이는 이유는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구축 및 유지 비용이 매우 저렴하다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는 경제적 이점과 특별한 장치가 필요하지 않다는 점입니다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9" name="Google Shape;889;g3ead50317f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ead50317f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앞서 언급한 여러 한계에도 불구하고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비밀번호 기반 인증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은 여전히 우리에게 가장 친숙하고 널리 사용되는 수단입니다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대다수의 서비스가 기본 인증 체계로 패스워드를 채택하고 있으며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사용자들 또한 이 방식에 매우 익숙해져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따라서 저희는 새로운 인증 수단을 강요하기보다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기존의 익숙한 비밀번호 체계를 유지하면서 그 보안성을 높일 수 있는 방안을 고민했습니다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6" name="Google Shape;896;g3ead50317f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ead50317f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결론적으로 이번 프로젝트의 핵심 의의는 구조는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MFA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경험은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SFA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 구현했다는 점에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기존 패스워드 인증은 대입 공격이나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크리덴셜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스터핑에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매우 취약했고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이를 보완하기 위한 기존의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MFA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방식은 사용자에게 매번 추가 인증을 요구하는 불편함을 초래했습니다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하지만 저희 시스템은 평상시 안전한 환경에서는 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비밀번호 입력만으로 즉시 로그인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허용하여 사용 편의성을 극대화합니다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그러면서도 시스템 배후에서는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키스트로크와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RBA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가 작동하여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이상 징후가 감지될 때만 정교하게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차 인증을 요구합니다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latinLnBrk="1"/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이를 통해 보안과 사용자 경험이라는 두 마리 토끼를 모두 잡는 인증 모델을 제시하고자 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3" name="Google Shape;903;g3ead50317f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eab4a1c664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g3eab4a1c664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>
          <a:extLst>
            <a:ext uri="{FF2B5EF4-FFF2-40B4-BE49-F238E27FC236}">
              <a16:creationId xmlns:a16="http://schemas.microsoft.com/office/drawing/2014/main" id="{EA077B20-ED8B-18AA-6B67-476473AC6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eab4a1c664_1_7:notes">
            <a:extLst>
              <a:ext uri="{FF2B5EF4-FFF2-40B4-BE49-F238E27FC236}">
                <a16:creationId xmlns:a16="http://schemas.microsoft.com/office/drawing/2014/main" id="{1C22642D-230C-4E81-63B1-2C1BBBC915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g3eab4a1c664_1_7:notes">
            <a:extLst>
              <a:ext uri="{FF2B5EF4-FFF2-40B4-BE49-F238E27FC236}">
                <a16:creationId xmlns:a16="http://schemas.microsoft.com/office/drawing/2014/main" id="{48FAAC87-48D5-C7EA-9C05-03D53B7C1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35352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eab4a1c664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g3eab4a1c664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3" Type="http://schemas.openxmlformats.org/officeDocument/2006/relationships/image" Target="../media/image103.png"/><Relationship Id="rId21" Type="http://schemas.openxmlformats.org/officeDocument/2006/relationships/image" Target="../media/image121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Relationship Id="rId22" Type="http://schemas.openxmlformats.org/officeDocument/2006/relationships/image" Target="../media/image1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1.png"/><Relationship Id="rId4" Type="http://schemas.openxmlformats.org/officeDocument/2006/relationships/image" Target="../media/image1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s03290811/capstone2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0" y="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762000" y="1791741"/>
            <a:ext cx="571500" cy="57150"/>
          </a:xfrm>
          <a:prstGeom prst="rect">
            <a:avLst/>
          </a:prstGeom>
          <a:solidFill>
            <a:srgbClr val="0075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134641"/>
            <a:ext cx="800100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</a:t>
            </a:r>
            <a:r>
              <a:rPr lang="en-US" sz="48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48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8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사용자</a:t>
            </a:r>
            <a:r>
              <a:rPr lang="en-US" sz="48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8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인증</a:t>
            </a:r>
            <a:r>
              <a:rPr lang="en-US" sz="48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및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8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보안</a:t>
            </a:r>
            <a:r>
              <a:rPr lang="en-US" sz="48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8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시스템</a:t>
            </a:r>
            <a:r>
              <a:rPr lang="en-US" sz="48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8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개발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704183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키스트로크</a:t>
            </a:r>
            <a:r>
              <a:rPr lang="en-US" sz="180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다이내믹스</a:t>
            </a:r>
            <a:r>
              <a:rPr lang="en-US" sz="180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180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위험</a:t>
            </a:r>
            <a:r>
              <a:rPr lang="en-US" sz="180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180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인증</a:t>
            </a:r>
            <a:r>
              <a:rPr lang="en-US" sz="180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(RBA) </a:t>
            </a:r>
            <a:r>
              <a:rPr lang="en-US" sz="180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고도화</a:t>
            </a:r>
            <a:r>
              <a:rPr lang="en-US" sz="180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연구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809083"/>
            <a:ext cx="7620000" cy="63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202</a:t>
            </a:r>
            <a:r>
              <a:rPr lang="en-US" sz="1350" dirty="0">
                <a:latin typeface="Inter SemiBold"/>
                <a:ea typeface="Inter SemiBold"/>
                <a:cs typeface="Inter SemiBold"/>
                <a:sym typeface="Inter SemiBold"/>
              </a:rPr>
              <a:t>6-1</a:t>
            </a:r>
            <a:r>
              <a:rPr lang="en-US" sz="1350" b="0" i="0" u="none" strike="noStrike" cap="none" dirty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350" dirty="0" err="1">
                <a:latin typeface="Inter SemiBold"/>
                <a:ea typeface="Inter SemiBold"/>
                <a:cs typeface="Inter SemiBold"/>
                <a:sym typeface="Inter SemiBold"/>
              </a:rPr>
              <a:t>캡스톤</a:t>
            </a:r>
            <a:r>
              <a:rPr lang="en-US" sz="1350" dirty="0"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350" dirty="0" err="1">
                <a:latin typeface="Inter SemiBold"/>
                <a:ea typeface="Inter SemiBold"/>
                <a:cs typeface="Inter SemiBold"/>
                <a:sym typeface="Inter SemiBold"/>
              </a:rPr>
              <a:t>디자인</a:t>
            </a:r>
            <a:r>
              <a:rPr lang="en-US" sz="1350" dirty="0">
                <a:latin typeface="Inter SemiBold"/>
                <a:ea typeface="Inter SemiBold"/>
                <a:cs typeface="Inter SemiBold"/>
                <a:sym typeface="Inter SemiBold"/>
              </a:rPr>
              <a:t>(2)</a:t>
            </a:r>
            <a:r>
              <a:rPr lang="en-US" sz="1350" b="0" i="0" u="none" strike="noStrike" cap="none" dirty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350" b="0" i="0" u="none" strike="noStrike" cap="none" dirty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발표</a:t>
            </a:r>
            <a:endParaRPr lang="en-US" sz="1350" b="0" i="0" u="none" strike="noStrike" cap="none" dirty="0">
              <a:solidFill>
                <a:srgbClr val="000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유민성</a:t>
            </a:r>
            <a:r>
              <a:rPr lang="en-US" altLang="ko-KR" dirty="0"/>
              <a:t>, </a:t>
            </a:r>
            <a:r>
              <a:rPr lang="ko-KR" altLang="en-US" dirty="0"/>
              <a:t>최윤서</a:t>
            </a:r>
            <a:r>
              <a:rPr lang="en-US" altLang="ko-KR" dirty="0"/>
              <a:t>, </a:t>
            </a:r>
            <a:r>
              <a:rPr lang="ko-KR" altLang="en-US" dirty="0" err="1"/>
              <a:t>김희서</a:t>
            </a:r>
            <a:endParaRPr dirty="0"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7050" y="1599150"/>
            <a:ext cx="3677175" cy="367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762000" y="5715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목차 (Table of Contents)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1083775" y="1705125"/>
            <a:ext cx="6832800" cy="6327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65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450" tIns="60725" rIns="121450" bIns="60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336845" y="1856968"/>
            <a:ext cx="63270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4" b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Part 0</a:t>
            </a:r>
            <a:r>
              <a:rPr lang="en-US" sz="1794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n-US" sz="1794" b="0" i="0" u="none" strike="noStrike" cap="none">
                <a:solidFill>
                  <a:srgbClr val="31302E"/>
                </a:solidFill>
                <a:latin typeface="Inter Medium"/>
                <a:ea typeface="Inter Medium"/>
                <a:cs typeface="Inter Medium"/>
                <a:sym typeface="Inter Medium"/>
              </a:rPr>
              <a:t> 프로젝트 개요 및 배경</a:t>
            </a:r>
            <a:endParaRPr sz="2060"/>
          </a:p>
        </p:txBody>
      </p:sp>
      <p:sp>
        <p:nvSpPr>
          <p:cNvPr id="97" name="Google Shape;97;p14"/>
          <p:cNvSpPr/>
          <p:nvPr/>
        </p:nvSpPr>
        <p:spPr>
          <a:xfrm>
            <a:off x="1083832" y="2899368"/>
            <a:ext cx="6832800" cy="6327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65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450" tIns="60725" rIns="121450" bIns="60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336902" y="3051212"/>
            <a:ext cx="63270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4" b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Part 1</a:t>
            </a:r>
            <a:r>
              <a:rPr lang="en-US" sz="1794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n-US" sz="1794" b="0" i="0" u="none" strike="noStrike" cap="none">
                <a:solidFill>
                  <a:srgbClr val="31302E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794">
                <a:solidFill>
                  <a:srgbClr val="31302E"/>
                </a:solidFill>
                <a:latin typeface="Inter Medium"/>
                <a:ea typeface="Inter Medium"/>
                <a:cs typeface="Inter Medium"/>
                <a:sym typeface="Inter Medium"/>
              </a:rPr>
              <a:t>키스트로크 다이나믹스 기반 사용자 인증 시스템 구현</a:t>
            </a:r>
            <a:endParaRPr sz="2060"/>
          </a:p>
        </p:txBody>
      </p:sp>
      <p:sp>
        <p:nvSpPr>
          <p:cNvPr id="99" name="Google Shape;99;p14"/>
          <p:cNvSpPr/>
          <p:nvPr/>
        </p:nvSpPr>
        <p:spPr>
          <a:xfrm>
            <a:off x="1083775" y="4010056"/>
            <a:ext cx="6832800" cy="6327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65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450" tIns="60725" rIns="121450" bIns="60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336845" y="4161899"/>
            <a:ext cx="63270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4" b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Part 2</a:t>
            </a:r>
            <a:r>
              <a:rPr lang="en-US" sz="1794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n-US" sz="1794" b="0" i="0" u="none" strike="noStrike" cap="none">
                <a:solidFill>
                  <a:srgbClr val="31302E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794">
                <a:solidFill>
                  <a:srgbClr val="31302E"/>
                </a:solidFill>
                <a:latin typeface="Inter Medium"/>
                <a:ea typeface="Inter Medium"/>
                <a:cs typeface="Inter Medium"/>
                <a:sym typeface="Inter Medium"/>
              </a:rPr>
              <a:t>위험 기반 인증(RBA) 시스템 구현</a:t>
            </a:r>
            <a:endParaRPr sz="2060"/>
          </a:p>
        </p:txBody>
      </p:sp>
      <p:sp>
        <p:nvSpPr>
          <p:cNvPr id="101" name="Google Shape;101;p14"/>
          <p:cNvSpPr/>
          <p:nvPr/>
        </p:nvSpPr>
        <p:spPr>
          <a:xfrm>
            <a:off x="1083780" y="5120734"/>
            <a:ext cx="6832800" cy="6327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65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450" tIns="60725" rIns="121450" bIns="60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336850" y="5272578"/>
            <a:ext cx="63270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4" b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Part 3</a:t>
            </a:r>
            <a:r>
              <a:rPr lang="en-US" sz="1794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n-US" sz="1794" b="0" i="0" u="none" strike="noStrike" cap="none">
                <a:solidFill>
                  <a:srgbClr val="31302E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794">
                <a:solidFill>
                  <a:srgbClr val="31302E"/>
                </a:solidFill>
                <a:latin typeface="Inter Medium"/>
                <a:ea typeface="Inter Medium"/>
                <a:cs typeface="Inter Medium"/>
                <a:sym typeface="Inter Medium"/>
              </a:rPr>
              <a:t>시스템 아키텍처 및 구현 </a:t>
            </a:r>
            <a:endParaRPr sz="2060"/>
          </a:p>
        </p:txBody>
      </p:sp>
      <p:sp>
        <p:nvSpPr>
          <p:cNvPr id="103" name="Google Shape;103;p14"/>
          <p:cNvSpPr/>
          <p:nvPr/>
        </p:nvSpPr>
        <p:spPr>
          <a:xfrm>
            <a:off x="1083775" y="2325152"/>
            <a:ext cx="6832800" cy="12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121450" tIns="60725" rIns="121450" bIns="60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1083832" y="3519396"/>
            <a:ext cx="6832800" cy="12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121450" tIns="60725" rIns="121450" bIns="60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1083780" y="5740762"/>
            <a:ext cx="6832800" cy="12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121450" tIns="60725" rIns="121450" bIns="60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4350" y="2077750"/>
            <a:ext cx="4785650" cy="3620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038600"/>
            <a:ext cx="504825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크리덴셜 스터핑 공격의 위험성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2192400"/>
            <a:ext cx="5300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공격</a:t>
            </a:r>
            <a:r>
              <a:rPr lang="en-US" sz="19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정의</a:t>
            </a:r>
            <a:endParaRPr sz="1500"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761925" y="2647950"/>
            <a:ext cx="5048400" cy="12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유출된 사용자 이름과 비밀번호 조합을 사용하여 관련 없는 다른 서비스에 로그인을 시도, 계정을 탈취하는 기법입니다. 이는 사용자들이 여러 플랫폼에서 </a:t>
            </a:r>
            <a:r>
              <a:rPr lang="en-US" sz="1450" b="1" i="0" u="none" strike="noStrike" cap="none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동일한 로그인 정보를 재사용하는 경향</a:t>
            </a:r>
            <a:r>
              <a:rPr lang="en-US" sz="1450" b="0" i="0" u="none" strike="noStrike" cap="none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을 악용합니다.</a:t>
            </a:r>
            <a:endParaRPr sz="1500"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4350" y="2077750"/>
            <a:ext cx="4785650" cy="36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009650" y="4286250"/>
            <a:ext cx="4552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SECURITY INSIGHT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09650" y="4562475"/>
            <a:ext cx="455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8,000,000건+</a:t>
            </a:r>
            <a:endParaRPr sz="1500"/>
          </a:p>
        </p:txBody>
      </p:sp>
      <p:sp>
        <p:nvSpPr>
          <p:cNvPr id="118" name="Google Shape;118;p15"/>
          <p:cNvSpPr txBox="1"/>
          <p:nvPr/>
        </p:nvSpPr>
        <p:spPr>
          <a:xfrm>
            <a:off x="1009650" y="4962525"/>
            <a:ext cx="4552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다크웹 내 유출된 국내 계정 정보 건수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최근</a:t>
            </a:r>
            <a:r>
              <a:rPr lang="en-US" sz="3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국내</a:t>
            </a:r>
            <a:r>
              <a:rPr lang="en-US" sz="3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주요</a:t>
            </a:r>
            <a:r>
              <a:rPr lang="en-US" sz="3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피해</a:t>
            </a:r>
            <a:r>
              <a:rPr lang="en-US" sz="3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사례</a:t>
            </a:r>
            <a:endParaRPr dirty="0"/>
          </a:p>
        </p:txBody>
      </p:sp>
      <p:sp>
        <p:nvSpPr>
          <p:cNvPr id="124" name="Google Shape;124;p16"/>
          <p:cNvSpPr/>
          <p:nvPr/>
        </p:nvSpPr>
        <p:spPr>
          <a:xfrm>
            <a:off x="762000" y="2205037"/>
            <a:ext cx="10668000" cy="2247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5" name="Google Shape;125;p16"/>
          <p:cNvGraphicFramePr/>
          <p:nvPr/>
        </p:nvGraphicFramePr>
        <p:xfrm>
          <a:off x="762000" y="2205037"/>
          <a:ext cx="10668000" cy="2247900"/>
        </p:xfrm>
        <a:graphic>
          <a:graphicData uri="http://schemas.openxmlformats.org/drawingml/2006/table">
            <a:tbl>
              <a:tblPr firstRow="1" bandRow="1">
                <a:noFill/>
                <a:tableStyleId>{B6E0D2BD-2155-4C02-B294-2F15D94BEF02}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 dirty="0" err="1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대상</a:t>
                      </a:r>
                      <a:r>
                        <a:rPr lang="en-US" b="0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</a:t>
                      </a:r>
                      <a:r>
                        <a:rPr lang="en-US" b="0" i="0" u="none" strike="noStrike" cap="none" dirty="0" err="1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기업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시기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피해 규모 및 내용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GS리테일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'24.06 - '25.02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약 158만 건 공격 시도, 9만 명의 개인정보 유출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티머니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'25.04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5만여 명 계정 로그인 성공, T마일리지 1,400만 원 탈취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대성마이맥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'2</a:t>
                      </a:r>
                      <a:r>
                        <a:rPr lang="en-US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4.01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크리덴셜</a:t>
                      </a:r>
                      <a:r>
                        <a:rPr lang="en-US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스터핑</a:t>
                      </a:r>
                      <a:r>
                        <a:rPr lang="en-US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및 XSS </a:t>
                      </a:r>
                      <a:r>
                        <a:rPr lang="en-US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공격으로</a:t>
                      </a:r>
                      <a:r>
                        <a:rPr lang="en-US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9만 5천여 명 </a:t>
                      </a:r>
                      <a:r>
                        <a:rPr lang="en-US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정보</a:t>
                      </a:r>
                      <a:r>
                        <a:rPr lang="en-US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탈취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6" name="Google Shape;126;p16"/>
          <p:cNvSpPr/>
          <p:nvPr/>
        </p:nvSpPr>
        <p:spPr>
          <a:xfrm>
            <a:off x="762000" y="4738687"/>
            <a:ext cx="10668000" cy="819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047750" y="4929187"/>
            <a:ext cx="10096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최근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크리덴셜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스터핑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해킹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공격이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빈번하게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발생함에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따라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...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추가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인증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적용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등의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조치가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추가적인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사고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예방에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도움이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될 수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있다</a:t>
            </a:r>
            <a:r>
              <a:rPr lang="en-US" b="0" i="1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." 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1" u="none" strike="noStrike" cap="none" dirty="0">
                <a:solidFill>
                  <a:srgbClr val="31302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</a:t>
            </a:r>
            <a:r>
              <a:rPr lang="en-US" b="0" i="1" u="none" strike="noStrike" cap="none" dirty="0" err="1">
                <a:solidFill>
                  <a:srgbClr val="31302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개인정보보호위원회</a:t>
            </a:r>
            <a:endParaRPr sz="1600" dirty="0"/>
          </a:p>
        </p:txBody>
      </p:sp>
      <p:sp>
        <p:nvSpPr>
          <p:cNvPr id="128" name="Google Shape;128;p16"/>
          <p:cNvSpPr/>
          <p:nvPr/>
        </p:nvSpPr>
        <p:spPr>
          <a:xfrm>
            <a:off x="762000" y="4738687"/>
            <a:ext cx="38100" cy="819150"/>
          </a:xfrm>
          <a:prstGeom prst="rect">
            <a:avLst/>
          </a:prstGeom>
          <a:solidFill>
            <a:srgbClr val="0075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762000" y="2752725"/>
            <a:ext cx="2667000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3429000" y="2752725"/>
            <a:ext cx="2133600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562600" y="2752725"/>
            <a:ext cx="5867400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762000" y="3314700"/>
            <a:ext cx="2667000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3429000" y="3314700"/>
            <a:ext cx="2133600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562600" y="3314700"/>
            <a:ext cx="5867400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62000" y="3876675"/>
            <a:ext cx="2667000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429000" y="3876675"/>
            <a:ext cx="2133600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562600" y="3876675"/>
            <a:ext cx="5867400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62000" y="4438650"/>
            <a:ext cx="2667000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429000" y="4438650"/>
            <a:ext cx="2133600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562600" y="4438650"/>
            <a:ext cx="5867400" cy="952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/>
          <p:cNvPicPr preferRelativeResize="0"/>
          <p:nvPr/>
        </p:nvPicPr>
        <p:blipFill rotWithShape="1">
          <a:blip r:embed="rId3">
            <a:alphaModFix/>
          </a:blip>
          <a:srcRect b="45001"/>
          <a:stretch/>
        </p:blipFill>
        <p:spPr>
          <a:xfrm>
            <a:off x="5813438" y="1124475"/>
            <a:ext cx="6015662" cy="4093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62000" y="5715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최근 국내 주요 피해 사례</a:t>
            </a:r>
            <a:endParaRPr/>
          </a:p>
        </p:txBody>
      </p:sp>
      <p:pic>
        <p:nvPicPr>
          <p:cNvPr id="147" name="Google Shape;14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475" y="1155038"/>
            <a:ext cx="5136024" cy="403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 r="47034"/>
          <a:stretch>
            <a:fillRect/>
          </a:stretch>
        </p:blipFill>
        <p:spPr>
          <a:xfrm>
            <a:off x="5885873" y="1965546"/>
            <a:ext cx="5511800" cy="3274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328" y="1965546"/>
            <a:ext cx="4586287" cy="327451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62000" y="5715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MFA</a:t>
            </a:r>
            <a:r>
              <a:rPr lang="en-US" sz="3000" b="1">
                <a:latin typeface="Inter"/>
                <a:ea typeface="Inter"/>
                <a:cs typeface="Inter"/>
                <a:sym typeface="Inter"/>
              </a:rPr>
              <a:t>의 보안성 및 도입의 한계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480128" y="2365596"/>
            <a:ext cx="3500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비밀번호 유출 상황에서의 MFA 방어력</a:t>
            </a:r>
            <a:endParaRPr sz="1600"/>
          </a:p>
        </p:txBody>
      </p:sp>
      <p:sp>
        <p:nvSpPr>
          <p:cNvPr id="156" name="Google Shape;156;p18"/>
          <p:cNvSpPr txBox="1"/>
          <p:nvPr/>
        </p:nvSpPr>
        <p:spPr>
          <a:xfrm>
            <a:off x="1194378" y="4108671"/>
            <a:ext cx="3786300" cy="9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사용자의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ID와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비밀번호가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유출된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시나리오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에서도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MFA가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활성화되어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있다면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공격자의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접근을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98%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이상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무력화합니다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3944" y="2366899"/>
            <a:ext cx="261600" cy="26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1194378" y="2908521"/>
            <a:ext cx="3786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0075D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98.56%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194378" y="3689571"/>
            <a:ext cx="3786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해킹 공격 실질 차단율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/>
        </p:nvSpPr>
        <p:spPr>
          <a:xfrm>
            <a:off x="495300" y="2814637"/>
            <a:ext cx="11201400" cy="139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우리는</a:t>
            </a:r>
            <a:r>
              <a:rPr lang="en-US" sz="40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'</a:t>
            </a:r>
            <a:r>
              <a:rPr lang="en-US" sz="40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비밀번호</a:t>
            </a:r>
            <a:r>
              <a:rPr lang="en-US" sz="40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0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유출'을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0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가정하고</a:t>
            </a:r>
            <a:r>
              <a:rPr lang="en-US" sz="40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0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시작합니다</a:t>
            </a:r>
            <a:r>
              <a:rPr lang="en-US" sz="40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84" name="Google Shape;184;p20"/>
          <p:cNvSpPr/>
          <p:nvPr/>
        </p:nvSpPr>
        <p:spPr>
          <a:xfrm>
            <a:off x="5619750" y="4395787"/>
            <a:ext cx="952500" cy="38100"/>
          </a:xfrm>
          <a:prstGeom prst="rect">
            <a:avLst/>
          </a:prstGeom>
          <a:solidFill>
            <a:srgbClr val="0075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371725" y="4719637"/>
            <a:ext cx="74487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단순히</a:t>
            </a:r>
            <a:r>
              <a:rPr lang="en-US" sz="16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유출을</a:t>
            </a:r>
            <a:r>
              <a:rPr lang="en-US" sz="16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방어하는</a:t>
            </a:r>
            <a:r>
              <a:rPr lang="en-US" sz="16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단계를</a:t>
            </a:r>
            <a:r>
              <a:rPr lang="en-US" sz="16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넘어</a:t>
            </a:r>
            <a:r>
              <a:rPr lang="en-US" sz="16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이미</a:t>
            </a:r>
            <a:r>
              <a:rPr lang="en-US" sz="16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비밀번호가</a:t>
            </a:r>
            <a:r>
              <a:rPr lang="en-US" sz="16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알려진</a:t>
            </a:r>
            <a:r>
              <a:rPr lang="en-US" sz="16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상황</a:t>
            </a:r>
            <a:r>
              <a:rPr lang="en-US" sz="16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에서도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시스템이</a:t>
            </a:r>
            <a:r>
              <a:rPr lang="en-US" sz="16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사용자를</a:t>
            </a:r>
            <a:r>
              <a:rPr lang="en-US" sz="16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안전</a:t>
            </a:r>
            <a:r>
              <a:rPr lang="en-US" sz="16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하게</a:t>
            </a:r>
            <a:r>
              <a:rPr lang="en-US" sz="16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식별할</a:t>
            </a:r>
            <a:r>
              <a:rPr lang="en-US" sz="16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수 </a:t>
            </a:r>
            <a:r>
              <a:rPr lang="en-US" sz="16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있는</a:t>
            </a:r>
            <a:r>
              <a:rPr lang="en-US" sz="16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것이</a:t>
            </a:r>
            <a:r>
              <a:rPr lang="en-US" sz="16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목표입니다</a:t>
            </a:r>
            <a:r>
              <a:rPr lang="en-US" sz="16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1585912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290762"/>
            <a:ext cx="340355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4150" y="2290762"/>
            <a:ext cx="340355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6300" y="2290762"/>
            <a:ext cx="3403699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연구의</a:t>
            </a:r>
            <a:r>
              <a:rPr lang="en-US" sz="3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목표</a:t>
            </a:r>
            <a:endParaRPr dirty="0"/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92250" y="2605087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1006952" y="3100387"/>
            <a:ext cx="291364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키스트로크 분석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076325" y="3424237"/>
            <a:ext cx="27750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사용자의 타건 속도, 리듬을 학습하여 비밀번호가 맞더라도 본인 여부 판별</a:t>
            </a:r>
            <a:endParaRPr sz="150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43451" y="260508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4639102" y="3100387"/>
            <a:ext cx="291364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위험</a:t>
            </a:r>
            <a:r>
              <a:rPr lang="en-US" sz="13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13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인증</a:t>
            </a:r>
            <a:endParaRPr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4708475" y="3424237"/>
            <a:ext cx="27750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접속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환경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(IP,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기기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등)을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분석하여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위험도에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따라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인증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단계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동적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조절</a:t>
            </a:r>
            <a:endParaRPr sz="1500" dirty="0"/>
          </a:p>
        </p:txBody>
      </p:sp>
      <p:pic>
        <p:nvPicPr>
          <p:cNvPr id="174" name="Google Shape;17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37650" y="260508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8271249" y="3100387"/>
            <a:ext cx="2913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백그라운드</a:t>
            </a:r>
            <a:r>
              <a:rPr lang="en-US" sz="13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MFA</a:t>
            </a: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8340625" y="3424237"/>
            <a:ext cx="27750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추가 입력 없이 배경에서 작동하여 보안은 강화하고 사용자 불편은 최소화</a:t>
            </a:r>
            <a:endParaRPr sz="1500"/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4867275"/>
            <a:ext cx="7524900" cy="35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1" i="0" u="none" strike="noStrike" cap="none" dirty="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r>
              <a:rPr lang="en-US" sz="1550" b="1" i="0" u="none" strike="noStrike" cap="none" dirty="0" err="1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보안</a:t>
            </a:r>
            <a:r>
              <a:rPr lang="en-US" sz="1550" b="1" i="0" u="none" strike="noStrike" cap="none" dirty="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50" b="1" i="0" u="none" strike="noStrike" cap="none" dirty="0" err="1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수준은</a:t>
            </a:r>
            <a:r>
              <a:rPr lang="en-US" sz="1550" b="1" i="0" u="none" strike="noStrike" cap="none" dirty="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50" b="1" i="0" u="none" strike="noStrike" cap="none" dirty="0" err="1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극대화하되</a:t>
            </a:r>
            <a:r>
              <a:rPr lang="en-US" sz="1550" b="1" i="0" u="none" strike="noStrike" cap="none" dirty="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, </a:t>
            </a:r>
            <a:r>
              <a:rPr lang="en-US" sz="1550" b="1" i="0" u="none" strike="noStrike" cap="none" dirty="0" err="1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사용자는</a:t>
            </a:r>
            <a:r>
              <a:rPr lang="en-US" sz="1550" b="1" i="0" u="none" strike="noStrike" cap="none" dirty="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50" b="1" i="0" u="none" strike="noStrike" cap="none" dirty="0" err="1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추가</a:t>
            </a:r>
            <a:r>
              <a:rPr lang="en-US" sz="1550" b="1" i="0" u="none" strike="noStrike" cap="none" dirty="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50" b="1" i="0" u="none" strike="noStrike" cap="none" dirty="0" err="1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인증의</a:t>
            </a:r>
            <a:r>
              <a:rPr lang="en-US" sz="1550" b="1" i="0" u="none" strike="noStrike" cap="none" dirty="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50" b="1" i="0" u="none" strike="noStrike" cap="none" dirty="0" err="1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번거로움을</a:t>
            </a:r>
            <a:r>
              <a:rPr lang="en-US" sz="1550" b="1" i="0" u="none" strike="noStrike" cap="none" dirty="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50" b="1" i="0" u="none" strike="noStrike" cap="none" dirty="0" err="1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느끼지</a:t>
            </a:r>
            <a:r>
              <a:rPr lang="en-US" sz="1550" b="1" i="0" u="none" strike="noStrike" cap="none" dirty="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50" b="1" i="0" u="none" strike="noStrike" cap="none" dirty="0" err="1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못하게</a:t>
            </a:r>
            <a:r>
              <a:rPr lang="en-US" sz="1550" b="1" i="0" u="none" strike="noStrike" cap="none" dirty="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50" b="1" i="0" u="none" strike="noStrike" cap="none" dirty="0" err="1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합니다</a:t>
            </a:r>
            <a:r>
              <a:rPr lang="en-US" sz="1550" b="1" i="0" u="none" strike="noStrike" cap="none" dirty="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."</a:t>
            </a:r>
            <a:endParaRPr sz="1600" b="1" dirty="0"/>
          </a:p>
        </p:txBody>
      </p:sp>
      <p:pic>
        <p:nvPicPr>
          <p:cNvPr id="178" name="Google Shape;17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0" y="4519612"/>
            <a:ext cx="28575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02E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/>
        </p:nvSpPr>
        <p:spPr>
          <a:xfrm>
            <a:off x="762000" y="2193726"/>
            <a:ext cx="8572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PART 0</a:t>
            </a:r>
            <a:r>
              <a:rPr lang="en-US" sz="135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762000" y="2536626"/>
            <a:ext cx="90012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키스트로크 다이나믹스 기반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사용자 인증 시스템 구현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762000" y="4054673"/>
            <a:ext cx="762000" cy="38100"/>
          </a:xfrm>
          <a:prstGeom prst="rect">
            <a:avLst/>
          </a:prstGeom>
          <a:solidFill>
            <a:srgbClr val="0075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762000" y="4378523"/>
            <a:ext cx="857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초기 실험 , 발전 과정, 구현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385417"/>
            <a:ext cx="5143500" cy="288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85417"/>
            <a:ext cx="5143500" cy="288726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1200150" y="571500"/>
            <a:ext cx="10741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초기 실험 설계 및 한계점 인지</a:t>
            </a:r>
            <a:endParaRPr/>
          </a:p>
        </p:txBody>
      </p:sp>
      <p:pic>
        <p:nvPicPr>
          <p:cNvPr id="202" name="Google Shape;20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12008"/>
            <a:ext cx="2952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1343025" y="2680692"/>
            <a:ext cx="448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초기 실험 프로토콜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867525" y="2680692"/>
            <a:ext cx="448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실험 결과 및 발견한 한계</a:t>
            </a:r>
            <a:endParaRPr/>
          </a:p>
        </p:txBody>
      </p:sp>
      <p:pic>
        <p:nvPicPr>
          <p:cNvPr id="205" name="Google Shape;20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714029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1247775" y="3080742"/>
            <a:ext cx="4362600" cy="1259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입력</a:t>
            </a:r>
            <a:r>
              <a:rPr lang="en-US" sz="1275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조건</a:t>
            </a:r>
            <a:r>
              <a:rPr lang="en-US" sz="1275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7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7자리의 </a:t>
            </a:r>
            <a:r>
              <a:rPr lang="en-US" sz="127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고정된</a:t>
            </a:r>
            <a:r>
              <a:rPr lang="en-US" sz="127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비밀번호</a:t>
            </a:r>
            <a:r>
              <a:rPr lang="en-US" sz="127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설정</a:t>
            </a:r>
            <a:endParaRPr lang="en-US" sz="1275" b="0" i="0" u="none" strike="noStrike" cap="none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ct val="159921"/>
              </a:lnSpc>
            </a:pPr>
            <a:r>
              <a:rPr lang="ko-KR" altLang="en-US" sz="128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반복 횟수</a:t>
            </a:r>
            <a:r>
              <a:rPr lang="en-US" altLang="ko-KR" sz="128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ko-KR" altLang="en-US" sz="128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동일한 패턴으로 세션당 </a:t>
            </a:r>
            <a:r>
              <a:rPr lang="en-US" altLang="ko-KR" sz="128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lang="ko-KR" altLang="en-US" sz="128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회 입력 수행</a:t>
            </a:r>
            <a:endParaRPr lang="en-US" altLang="ko-KR" sz="1280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ct val="159921"/>
              </a:lnSpc>
            </a:pPr>
            <a:r>
              <a:rPr lang="ko-KR" altLang="en-US" sz="128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변수 제어</a:t>
            </a:r>
            <a:r>
              <a:rPr lang="en-US" altLang="ko-KR" sz="128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ko-KR" altLang="en-US" sz="128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의도적으로 타건 패턴을 달리하여 복수의 세션 동안 반복 데이터 수집</a:t>
            </a:r>
            <a:endParaRPr lang="ko-KR" altLang="en-US" sz="1280" dirty="0"/>
          </a:p>
        </p:txBody>
      </p:sp>
      <p:pic>
        <p:nvPicPr>
          <p:cNvPr id="209" name="Google Shape;20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714029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6772275" y="3080742"/>
            <a:ext cx="43626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지나치게</a:t>
            </a:r>
            <a:r>
              <a:rPr lang="en-US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높은</a:t>
            </a:r>
            <a:r>
              <a:rPr lang="en-US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분류</a:t>
            </a:r>
            <a:r>
              <a:rPr lang="en-US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정확도</a:t>
            </a:r>
            <a:r>
              <a:rPr lang="en-US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초기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제어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환경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하에서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분류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정확도가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비정상적으로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높게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측정됨</a:t>
            </a:r>
            <a:endParaRPr sz="1600" dirty="0"/>
          </a:p>
        </p:txBody>
      </p:sp>
      <p:sp>
        <p:nvSpPr>
          <p:cNvPr id="212" name="Google Shape;212;p22"/>
          <p:cNvSpPr txBox="1"/>
          <p:nvPr/>
        </p:nvSpPr>
        <p:spPr>
          <a:xfrm>
            <a:off x="6761250" y="4085126"/>
            <a:ext cx="43626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향후</a:t>
            </a:r>
            <a:r>
              <a:rPr lang="en-US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과제</a:t>
            </a:r>
            <a:r>
              <a:rPr lang="en-US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모델의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실효성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검증을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위해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더 </a:t>
            </a:r>
            <a:r>
              <a:rPr lang="en-US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크고</a:t>
            </a:r>
            <a:r>
              <a:rPr lang="en-US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정교한</a:t>
            </a:r>
            <a:r>
              <a:rPr lang="en-US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벤치마크</a:t>
            </a:r>
            <a:r>
              <a:rPr lang="en-US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데이터셋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도입이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필수적임을</a:t>
            </a:r>
            <a:r>
              <a:rPr lang="en-US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확인</a:t>
            </a:r>
            <a:endParaRPr sz="1600" dirty="0"/>
          </a:p>
        </p:txBody>
      </p:sp>
      <p:sp>
        <p:nvSpPr>
          <p:cNvPr id="216" name="Google Shape;216;p22"/>
          <p:cNvSpPr txBox="1"/>
          <p:nvPr/>
        </p:nvSpPr>
        <p:spPr>
          <a:xfrm>
            <a:off x="6581775" y="3080742"/>
            <a:ext cx="762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570750" y="4085126"/>
            <a:ext cx="762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119312"/>
            <a:ext cx="462915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72150" y="2119312"/>
            <a:ext cx="565785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3291929"/>
            <a:ext cx="1947862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48012" y="3291929"/>
            <a:ext cx="1947862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1200150" y="571500"/>
            <a:ext cx="10741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CMU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벤치마크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데이터셋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활용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속성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추출</a:t>
            </a:r>
            <a:endParaRPr dirty="0"/>
          </a:p>
        </p:txBody>
      </p:sp>
      <p:pic>
        <p:nvPicPr>
          <p:cNvPr id="228" name="Google Shape;22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622710"/>
            <a:ext cx="2952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1390650" y="2844254"/>
            <a:ext cx="3890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데이터셋 수집 규모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1057275" y="4253949"/>
            <a:ext cx="40386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13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설계</a:t>
            </a:r>
            <a:r>
              <a:rPr lang="en-US" sz="12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구조</a:t>
            </a:r>
            <a:r>
              <a:rPr lang="en-US" sz="12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인당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총 8개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세션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운영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세션당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50회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입력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2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환경</a:t>
            </a:r>
            <a:r>
              <a:rPr lang="en-US" sz="12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변수</a:t>
            </a:r>
            <a:r>
              <a:rPr lang="en-US" sz="12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제어</a:t>
            </a:r>
            <a:r>
              <a:rPr lang="en-US" sz="12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시간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경과에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따른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패턴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변화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반영을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위해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세션</a:t>
            </a:r>
            <a:r>
              <a:rPr lang="en-US" sz="12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간 </a:t>
            </a:r>
            <a:r>
              <a:rPr lang="en-US" sz="12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최소</a:t>
            </a:r>
            <a:r>
              <a:rPr lang="en-US" sz="12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하루</a:t>
            </a:r>
            <a:r>
              <a:rPr lang="en-US" sz="12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(24시간)의 </a:t>
            </a:r>
            <a:r>
              <a:rPr lang="en-US" sz="12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간격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을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두고</a:t>
            </a:r>
            <a:r>
              <a:rPr lang="en-US" sz="12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측정</a:t>
            </a:r>
            <a:endParaRPr sz="1600" dirty="0"/>
          </a:p>
        </p:txBody>
      </p:sp>
      <p:sp>
        <p:nvSpPr>
          <p:cNvPr id="231" name="Google Shape;231;p23"/>
          <p:cNvSpPr txBox="1"/>
          <p:nvPr/>
        </p:nvSpPr>
        <p:spPr>
          <a:xfrm>
            <a:off x="6353175" y="2414587"/>
            <a:ext cx="502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키스트로크</a:t>
            </a:r>
            <a:r>
              <a:rPr lang="en-US" sz="15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타이밍</a:t>
            </a:r>
            <a:r>
              <a:rPr lang="en-US" sz="15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속성</a:t>
            </a:r>
            <a:r>
              <a:rPr lang="en-US" sz="15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(Features)</a:t>
            </a:r>
            <a:endParaRPr dirty="0"/>
          </a:p>
        </p:txBody>
      </p:sp>
      <p:sp>
        <p:nvSpPr>
          <p:cNvPr id="232" name="Google Shape;232;p23"/>
          <p:cNvSpPr/>
          <p:nvPr/>
        </p:nvSpPr>
        <p:spPr>
          <a:xfrm>
            <a:off x="6067425" y="2814637"/>
            <a:ext cx="5067300" cy="2428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p23"/>
          <p:cNvGraphicFramePr/>
          <p:nvPr/>
        </p:nvGraphicFramePr>
        <p:xfrm>
          <a:off x="6067425" y="2814637"/>
          <a:ext cx="5067300" cy="2428900"/>
        </p:xfrm>
        <a:graphic>
          <a:graphicData uri="http://schemas.openxmlformats.org/drawingml/2006/table">
            <a:tbl>
              <a:tblPr firstRow="1" bandRow="1">
                <a:noFill/>
                <a:tableStyleId>{B6E0D2BD-2155-4C02-B294-2F15D94BEF02}</a:tableStyleId>
              </a:tblPr>
              <a:tblGrid>
                <a:gridCol w="152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0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속성 구분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0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상세 정의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1" i="0" u="none" strike="noStrike" cap="none" dirty="0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</a:t>
                      </a:r>
                      <a:r>
                        <a:rPr lang="en-US" sz="1225" b="0" i="0" u="none" strike="noStrike" cap="none" dirty="0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1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Hold Time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하나의 특정 키를 누르고 있는 시간 (Keydown to Keyup)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1" dirty="0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</a:t>
                      </a:r>
                      <a:r>
                        <a:rPr lang="en-US" sz="1225" b="1" i="0" u="none" strike="noStrike" cap="none" dirty="0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</a:t>
                      </a:r>
                      <a:r>
                        <a:rPr lang="en-US" sz="1225" b="1" i="0" u="none" strike="noStrike" cap="none" dirty="0">
                          <a:solidFill>
                            <a:srgbClr val="4A86E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1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Keydown-Keydown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앞의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키를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누른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시점부터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다음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키를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누른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시점까지의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간격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1" i="0" u="none" strike="noStrike" cap="none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UD</a:t>
                      </a:r>
                      <a:r>
                        <a:rPr lang="en-US" sz="122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1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Keyup-Keydown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앞의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키를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뗀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시점부터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다음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키를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누른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시점까지의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물리적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공백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시간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34" name="Google Shape;23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2877591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67425" y="24479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6067425" y="3267075"/>
            <a:ext cx="15201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7587555" y="3267075"/>
            <a:ext cx="35472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1200150" y="3434804"/>
            <a:ext cx="166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51명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1200150" y="3796754"/>
            <a:ext cx="1662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총 피실험자 수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3290887" y="3434804"/>
            <a:ext cx="166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400회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3290887" y="3796754"/>
            <a:ext cx="1662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인당 총 반복 횟수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6067425" y="3914775"/>
            <a:ext cx="15201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7587555" y="3914775"/>
            <a:ext cx="35472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6067425" y="4572000"/>
            <a:ext cx="15201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7587555" y="4572000"/>
            <a:ext cx="35472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6067425" y="5229225"/>
            <a:ext cx="15201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587555" y="5229225"/>
            <a:ext cx="35472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054125"/>
            <a:ext cx="5143500" cy="3764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054125"/>
            <a:ext cx="5143500" cy="376478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1323975" y="571500"/>
            <a:ext cx="1061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데이터 </a:t>
            </a:r>
            <a:r>
              <a:rPr lang="ko-KR" alt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전처리</a:t>
            </a:r>
            <a:r>
              <a:rPr lang="ko-KR" alt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평가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지표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설계</a:t>
            </a:r>
            <a:endParaRPr dirty="0"/>
          </a:p>
        </p:txBody>
      </p:sp>
      <p:pic>
        <p:nvPicPr>
          <p:cNvPr id="255" name="Google Shape;25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12008"/>
            <a:ext cx="4191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1343025" y="2349400"/>
            <a:ext cx="448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6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전처리</a:t>
            </a:r>
            <a:endParaRPr sz="1500" dirty="0"/>
          </a:p>
        </p:txBody>
      </p:sp>
      <p:sp>
        <p:nvSpPr>
          <p:cNvPr id="257" name="Google Shape;257;p24"/>
          <p:cNvSpPr txBox="1"/>
          <p:nvPr/>
        </p:nvSpPr>
        <p:spPr>
          <a:xfrm>
            <a:off x="6867525" y="2349400"/>
            <a:ext cx="448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보안</a:t>
            </a:r>
            <a:r>
              <a:rPr lang="en-US" sz="15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r>
              <a:rPr lang="en-US" sz="15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평가</a:t>
            </a:r>
            <a:r>
              <a:rPr lang="en-US" sz="15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지표</a:t>
            </a:r>
            <a:r>
              <a:rPr lang="en-US" sz="15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정의</a:t>
            </a:r>
            <a:endParaRPr dirty="0"/>
          </a:p>
        </p:txBody>
      </p:sp>
      <p:sp>
        <p:nvSpPr>
          <p:cNvPr id="258" name="Google Shape;258;p24"/>
          <p:cNvSpPr/>
          <p:nvPr/>
        </p:nvSpPr>
        <p:spPr>
          <a:xfrm>
            <a:off x="6581700" y="2749450"/>
            <a:ext cx="4553100" cy="27003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p24"/>
          <p:cNvGraphicFramePr/>
          <p:nvPr>
            <p:extLst>
              <p:ext uri="{D42A27DB-BD31-4B8C-83A1-F6EECF244321}">
                <p14:modId xmlns:p14="http://schemas.microsoft.com/office/powerpoint/2010/main" val="1479043148"/>
              </p:ext>
            </p:extLst>
          </p:nvPr>
        </p:nvGraphicFramePr>
        <p:xfrm>
          <a:off x="6581775" y="2749400"/>
          <a:ext cx="4552950" cy="2700400"/>
        </p:xfrm>
        <a:graphic>
          <a:graphicData uri="http://schemas.openxmlformats.org/drawingml/2006/table">
            <a:tbl>
              <a:tblPr firstRow="1" bandRow="1">
                <a:noFill/>
                <a:tableStyleId>{B6E0D2BD-2155-4C02-B294-2F15D94BEF02}</a:tableStyleId>
              </a:tblPr>
              <a:tblGrid>
                <a:gridCol w="91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FAR</a:t>
                      </a:r>
                      <a:endParaRPr sz="15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오인식률 (False Acceptance Rate)</a:t>
                      </a:r>
                      <a:b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타인의 공격 입력을 본인으로 잘못 승인할 확률 </a:t>
                      </a:r>
                      <a:r>
                        <a:rPr lang="en-US" sz="1150" b="0" i="0" u="none" strike="noStrike" cap="none">
                          <a:solidFill>
                            <a:srgbClr val="0075D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(보안성 지표)</a:t>
                      </a:r>
                      <a:endParaRPr sz="1500">
                        <a:solidFill>
                          <a:srgbClr val="0075DE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FRR</a:t>
                      </a:r>
                      <a:endParaRPr sz="15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오거부률</a:t>
                      </a:r>
                      <a:r>
                        <a:rPr lang="en-US" sz="1150" b="1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(False Rejection Rate)</a:t>
                      </a:r>
                      <a:br>
                        <a:rPr lang="en-US" sz="19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정상적인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본인의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입력을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타인으로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오인해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거부할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확률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>
                          <a:solidFill>
                            <a:srgbClr val="DD5B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(</a:t>
                      </a:r>
                      <a:r>
                        <a:rPr lang="en-US" sz="1150" b="0" i="0" u="none" strike="noStrike" cap="none" dirty="0" err="1">
                          <a:solidFill>
                            <a:srgbClr val="DD5B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편의성</a:t>
                      </a:r>
                      <a:r>
                        <a:rPr lang="en-US" sz="1150" b="0" i="0" u="none" strike="noStrike" cap="none" dirty="0">
                          <a:solidFill>
                            <a:srgbClr val="DD5B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DD5B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지표</a:t>
                      </a:r>
                      <a:r>
                        <a:rPr lang="en-US" sz="1150" b="0" i="0" u="none" strike="noStrike" cap="none" dirty="0">
                          <a:solidFill>
                            <a:srgbClr val="DD5B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)</a:t>
                      </a:r>
                      <a:endParaRPr sz="1500" dirty="0">
                        <a:solidFill>
                          <a:srgbClr val="DD5B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1" i="0" u="none" strike="noStrike" cap="none" dirty="0">
                          <a:solidFill>
                            <a:srgbClr val="0075D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EER</a:t>
                      </a:r>
                      <a:endParaRPr sz="15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동일오류율</a:t>
                      </a:r>
                      <a:r>
                        <a:rPr lang="en-US" sz="1150" b="1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(Equal Error Rate)</a:t>
                      </a:r>
                      <a:b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FAR과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FRR이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일치하는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최적의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균형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지점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 이 </a:t>
                      </a:r>
                      <a:r>
                        <a:rPr lang="en-US" sz="1150" b="0" i="0" u="sng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수치가</a:t>
                      </a:r>
                      <a:r>
                        <a:rPr lang="en-US" sz="1150" b="0" i="0" u="sng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sng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낮을수록</a:t>
                      </a:r>
                      <a:r>
                        <a:rPr lang="en-US" sz="1150" b="0" i="0" u="sng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sng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시스템의</a:t>
                      </a:r>
                      <a:r>
                        <a:rPr lang="en-US" sz="1150" b="0" i="0" u="sng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sng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종합</a:t>
                      </a:r>
                      <a:r>
                        <a:rPr lang="en-US" sz="1150" b="0" i="0" u="sng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sng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성능이</a:t>
                      </a:r>
                      <a:r>
                        <a:rPr lang="en-US" sz="1150" b="0" i="0" u="sng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sng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우수함</a:t>
                      </a:r>
                      <a:endParaRPr sz="1500" u="sng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60" name="Google Shape;26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238273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1247775" y="2749450"/>
            <a:ext cx="4362600" cy="2247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3277"/>
              </a:lnSpc>
            </a:pPr>
            <a:r>
              <a:rPr lang="ko-KR" altLang="en-US" sz="138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 스케일링 기법 검토</a:t>
            </a:r>
            <a:r>
              <a:rPr lang="en-US" altLang="ko-KR" sz="138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ko-KR" altLang="en-US" sz="138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타건 속도 편차 조율을 위한 </a:t>
            </a:r>
            <a:r>
              <a:rPr lang="ko-KR" altLang="en-US" sz="138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전처리</a:t>
            </a:r>
            <a:r>
              <a:rPr lang="ko-KR" altLang="en-US" sz="138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적용 </a:t>
            </a:r>
            <a:br>
              <a:rPr lang="ko-KR" altLang="en-US" sz="138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altLang="ko-KR" sz="134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altLang="ko-KR" sz="134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Standard Scaler:</a:t>
            </a:r>
            <a:r>
              <a:rPr lang="ko-KR" altLang="en-US" sz="134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평균과 표준편차 기준으로                             데이터 분포를 정규화</a:t>
            </a:r>
            <a:br>
              <a:rPr lang="ko-KR" altLang="en-US" sz="134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altLang="ko-KR" sz="134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altLang="ko-KR" sz="134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Robust Scaler:</a:t>
            </a:r>
            <a:r>
              <a:rPr lang="ko-KR" altLang="en-US" sz="134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중앙값 및 사분위수 기반</a:t>
            </a:r>
            <a:r>
              <a:rPr lang="en-US" altLang="ko-KR" sz="134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ko-KR" altLang="en-US" sz="134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이상치에      강건한 정규화</a:t>
            </a:r>
          </a:p>
          <a:p>
            <a:pPr lvl="0">
              <a:lnSpc>
                <a:spcPct val="113277"/>
              </a:lnSpc>
              <a:buClr>
                <a:schemeClr val="dk1"/>
              </a:buClr>
            </a:pPr>
            <a:r>
              <a:rPr lang="en-US" altLang="ko-KR" sz="134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altLang="ko-KR" sz="134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Z-score:</a:t>
            </a:r>
            <a:r>
              <a:rPr lang="ko-KR" altLang="en-US" sz="134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각 데이터가 평균으로부터 표준편차의 몇 배만큼 떨어져 있는지 나타내는 지표 </a:t>
            </a: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</p:txBody>
      </p:sp>
      <p:pic>
        <p:nvPicPr>
          <p:cNvPr id="263" name="Google Shape;26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238273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/>
          <p:nvPr/>
        </p:nvSpPr>
        <p:spPr>
          <a:xfrm>
            <a:off x="6581775" y="3638038"/>
            <a:ext cx="910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7492305" y="3638038"/>
            <a:ext cx="364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6581775" y="4523863"/>
            <a:ext cx="910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7492305" y="4523863"/>
            <a:ext cx="364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6602775" y="5449788"/>
            <a:ext cx="910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7492305" y="5449788"/>
            <a:ext cx="364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514600"/>
            <a:ext cx="5238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514600"/>
            <a:ext cx="5238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924300"/>
            <a:ext cx="5238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3924300"/>
            <a:ext cx="52387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285875" y="571500"/>
            <a:ext cx="10651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모델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검증을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위한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평가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방식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개요</a:t>
            </a:r>
            <a:endParaRPr dirty="0"/>
          </a:p>
        </p:txBody>
      </p:sp>
      <p:pic>
        <p:nvPicPr>
          <p:cNvPr id="281" name="Google Shape;28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12008"/>
            <a:ext cx="381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1247775" y="2752725"/>
            <a:ext cx="4740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Holdout Method</a:t>
            </a:r>
            <a:endParaRPr dirty="0"/>
          </a:p>
        </p:txBody>
      </p:sp>
      <p:sp>
        <p:nvSpPr>
          <p:cNvPr id="283" name="Google Shape;283;p25"/>
          <p:cNvSpPr txBox="1"/>
          <p:nvPr/>
        </p:nvSpPr>
        <p:spPr>
          <a:xfrm>
            <a:off x="1000125" y="3067050"/>
            <a:ext cx="4762500" cy="565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데이터를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단순</a:t>
            </a:r>
            <a:r>
              <a:rPr lang="en-US" sz="1225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비율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(예: 7:3)로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훈련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테스트셋으로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고정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분할하는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방식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검증이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직관적이나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분할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기준에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따른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결과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편차가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큼</a:t>
            </a:r>
            <a:endParaRPr sz="1500" dirty="0"/>
          </a:p>
        </p:txBody>
      </p:sp>
      <p:sp>
        <p:nvSpPr>
          <p:cNvPr id="284" name="Google Shape;284;p25"/>
          <p:cNvSpPr txBox="1"/>
          <p:nvPr/>
        </p:nvSpPr>
        <p:spPr>
          <a:xfrm>
            <a:off x="6677025" y="2752725"/>
            <a:ext cx="4740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LOO-CV (Leave-One-Out)</a:t>
            </a:r>
            <a:endParaRPr dirty="0"/>
          </a:p>
        </p:txBody>
      </p:sp>
      <p:sp>
        <p:nvSpPr>
          <p:cNvPr id="285" name="Google Shape;285;p25"/>
          <p:cNvSpPr txBox="1"/>
          <p:nvPr/>
        </p:nvSpPr>
        <p:spPr>
          <a:xfrm>
            <a:off x="6429375" y="3067050"/>
            <a:ext cx="4762500" cy="565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5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전체</a:t>
            </a:r>
            <a:r>
              <a:rPr lang="en-US" sz="1225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N개</a:t>
            </a:r>
            <a:r>
              <a:rPr lang="en-US" sz="1225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225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중 단 1개의 </a:t>
            </a:r>
            <a:r>
              <a:rPr lang="en-US" sz="1225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샘플만</a:t>
            </a:r>
            <a:r>
              <a:rPr lang="en-US" sz="1225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테스트셋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으로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나머지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N-1개로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학습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하는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과정을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전체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데이터에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대해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반복</a:t>
            </a:r>
            <a:endParaRPr sz="1500" dirty="0"/>
          </a:p>
        </p:txBody>
      </p:sp>
      <p:sp>
        <p:nvSpPr>
          <p:cNvPr id="286" name="Google Shape;286;p25"/>
          <p:cNvSpPr txBox="1"/>
          <p:nvPr/>
        </p:nvSpPr>
        <p:spPr>
          <a:xfrm>
            <a:off x="1266825" y="4162425"/>
            <a:ext cx="4720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LOSO-CV (Leave-One-Session-Out)</a:t>
            </a:r>
            <a:endParaRPr dirty="0"/>
          </a:p>
        </p:txBody>
      </p:sp>
      <p:sp>
        <p:nvSpPr>
          <p:cNvPr id="287" name="Google Shape;287;p25"/>
          <p:cNvSpPr txBox="1"/>
          <p:nvPr/>
        </p:nvSpPr>
        <p:spPr>
          <a:xfrm>
            <a:off x="1000125" y="4476750"/>
            <a:ext cx="4762500" cy="565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전체</a:t>
            </a:r>
            <a:r>
              <a:rPr lang="en-US" sz="122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N개의</a:t>
            </a:r>
            <a:r>
              <a:rPr lang="en-US" sz="122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세션</a:t>
            </a:r>
            <a:r>
              <a:rPr lang="en-US" sz="122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중 </a:t>
            </a:r>
            <a:r>
              <a:rPr lang="en-US" sz="122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한개의</a:t>
            </a:r>
            <a:r>
              <a:rPr lang="en-US" sz="122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세션만</a:t>
            </a:r>
            <a:r>
              <a:rPr lang="en-US" sz="122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테스트셋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으로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나머지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N-1개의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세션으로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학습하는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과정을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모든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세션에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대해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반복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500" dirty="0"/>
          </a:p>
        </p:txBody>
      </p:sp>
      <p:sp>
        <p:nvSpPr>
          <p:cNvPr id="288" name="Google Shape;288;p25"/>
          <p:cNvSpPr txBox="1"/>
          <p:nvPr/>
        </p:nvSpPr>
        <p:spPr>
          <a:xfrm>
            <a:off x="6677025" y="4162425"/>
            <a:ext cx="4740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Sliding Window</a:t>
            </a:r>
            <a:endParaRPr dirty="0"/>
          </a:p>
        </p:txBody>
      </p:sp>
      <p:sp>
        <p:nvSpPr>
          <p:cNvPr id="289" name="Google Shape;289;p25"/>
          <p:cNvSpPr txBox="1"/>
          <p:nvPr/>
        </p:nvSpPr>
        <p:spPr>
          <a:xfrm>
            <a:off x="6429375" y="4476750"/>
            <a:ext cx="47625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시계열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흐름에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맞춰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일정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크기의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창(Window)을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이동시키며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연속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그룹을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학습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평가에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순차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반영하는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방식</a:t>
            </a:r>
            <a:endParaRPr sz="1500" dirty="0"/>
          </a:p>
        </p:txBody>
      </p:sp>
      <p:pic>
        <p:nvPicPr>
          <p:cNvPr id="290" name="Google Shape;29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27670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29375" y="27670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0125" y="417671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29375" y="4176712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191000"/>
            <a:ext cx="1066800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43125"/>
            <a:ext cx="51435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43125"/>
            <a:ext cx="5143500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1323975" y="571500"/>
            <a:ext cx="1061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One-Class SVM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최적화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실험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(1)</a:t>
            </a:r>
            <a:endParaRPr dirty="0"/>
          </a:p>
        </p:txBody>
      </p:sp>
      <p:pic>
        <p:nvPicPr>
          <p:cNvPr id="302" name="Google Shape;30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22710"/>
            <a:ext cx="4191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 txBox="1"/>
          <p:nvPr/>
        </p:nvSpPr>
        <p:spPr>
          <a:xfrm>
            <a:off x="1190625" y="4429125"/>
            <a:ext cx="105012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정규화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변경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(Robust Scaler)</a:t>
            </a:r>
            <a:endParaRPr sz="1500" dirty="0"/>
          </a:p>
        </p:txBody>
      </p:sp>
      <p:sp>
        <p:nvSpPr>
          <p:cNvPr id="304" name="Google Shape;304;p26"/>
          <p:cNvSpPr txBox="1"/>
          <p:nvPr/>
        </p:nvSpPr>
        <p:spPr>
          <a:xfrm>
            <a:off x="1000125" y="4772025"/>
            <a:ext cx="101919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이상치</a:t>
            </a:r>
            <a:r>
              <a:rPr lang="en-US" sz="13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(Outlier) </a:t>
            </a:r>
            <a:r>
              <a:rPr lang="en-US" sz="13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영향을</a:t>
            </a:r>
            <a:r>
              <a:rPr lang="en-US" sz="13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줄이기</a:t>
            </a:r>
            <a:r>
              <a:rPr lang="en-US" sz="13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위해</a:t>
            </a:r>
            <a:r>
              <a:rPr lang="en-US" sz="13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Standard Scaler </a:t>
            </a:r>
            <a:r>
              <a:rPr lang="en-US" sz="13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대신</a:t>
            </a:r>
            <a:r>
              <a:rPr lang="en-US" sz="13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Robust Scaler </a:t>
            </a:r>
            <a:r>
              <a:rPr lang="en-US" sz="13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도입</a:t>
            </a:r>
            <a:endParaRPr lang="en-US" sz="1350" b="0" i="0" u="none" strike="noStrike" cap="none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350" b="0" i="0" u="none" strike="noStrike" cap="none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r>
              <a:rPr lang="en-US" altLang="ko-KR" sz="13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r>
              <a:rPr lang="ko-KR" altLang="en-US" sz="13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명 평균 결과</a:t>
            </a:r>
            <a:r>
              <a:rPr lang="en-US" altLang="ko-KR" sz="13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ko-KR" altLang="en-US" sz="13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altLang="ko-KR" sz="13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endParaRPr lang="ko-KR" altLang="en-US" sz="1350" dirty="0"/>
          </a:p>
        </p:txBody>
      </p:sp>
      <p:sp>
        <p:nvSpPr>
          <p:cNvPr id="306" name="Google Shape;306;p26"/>
          <p:cNvSpPr txBox="1"/>
          <p:nvPr/>
        </p:nvSpPr>
        <p:spPr>
          <a:xfrm>
            <a:off x="1162050" y="2381250"/>
            <a:ext cx="4730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검증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방식의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한계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확인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(Holdout)</a:t>
            </a:r>
            <a:endParaRPr sz="1500" dirty="0"/>
          </a:p>
        </p:txBody>
      </p:sp>
      <p:sp>
        <p:nvSpPr>
          <p:cNvPr id="307" name="Google Shape;307;p26"/>
          <p:cNvSpPr txBox="1"/>
          <p:nvPr/>
        </p:nvSpPr>
        <p:spPr>
          <a:xfrm>
            <a:off x="6715125" y="2381250"/>
            <a:ext cx="4700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LOSO-CV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도입</a:t>
            </a:r>
            <a:endParaRPr sz="1500" dirty="0"/>
          </a:p>
        </p:txBody>
      </p:sp>
      <p:pic>
        <p:nvPicPr>
          <p:cNvPr id="308" name="Google Shape;308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4457700"/>
            <a:ext cx="1143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03420" y="5149151"/>
            <a:ext cx="1966363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87685" y="5149151"/>
            <a:ext cx="1843396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0125" y="2409825"/>
            <a:ext cx="857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6"/>
          <p:cNvSpPr txBox="1"/>
          <p:nvPr/>
        </p:nvSpPr>
        <p:spPr>
          <a:xfrm>
            <a:off x="1171575" y="2724150"/>
            <a:ext cx="44958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Holdout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방식을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활용해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세션을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분할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평가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진행</a:t>
            </a:r>
            <a:endParaRPr lang="en-US" sz="1300" b="0" i="0" u="none" strike="noStrike" cap="none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문제점</a:t>
            </a:r>
            <a:r>
              <a:rPr lang="en-US" altLang="ko-KR" sz="1300" b="1" dirty="0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ko-KR" altLang="en-US" sz="13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세션을 나누는 기준점에 따라 성능 수치가 과도하게 달라지는 불안정성 확인</a:t>
            </a:r>
            <a:endParaRPr lang="ko-KR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</p:txBody>
      </p:sp>
      <p:pic>
        <p:nvPicPr>
          <p:cNvPr id="314" name="Google Shape;314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24625" y="2409825"/>
            <a:ext cx="1143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6"/>
          <p:cNvSpPr txBox="1"/>
          <p:nvPr/>
        </p:nvSpPr>
        <p:spPr>
          <a:xfrm>
            <a:off x="6696075" y="2724150"/>
            <a:ext cx="4495800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세션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편차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반영을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위해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LOSO-CV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방식으로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전환</a:t>
            </a:r>
            <a:endParaRPr lang="en-US" sz="1300" b="0" i="0" u="none" strike="noStrike" cap="none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r>
              <a:rPr lang="ko-KR" altLang="en-US" sz="130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명 평균 결과</a:t>
            </a:r>
            <a:r>
              <a:rPr lang="en-US" altLang="ko-KR" sz="130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ko-KR" altLang="en-US" sz="13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altLang="ko-KR" sz="13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한계</a:t>
            </a:r>
            <a:r>
              <a:rPr lang="en-US" altLang="ko-KR" sz="1300" b="1" dirty="0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ko-KR" altLang="en-US" sz="13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참고한 논문에 미치지 못하는 정확도</a:t>
            </a:r>
            <a:endParaRPr lang="ko-KR" altLang="en-US" sz="1300" dirty="0"/>
          </a:p>
        </p:txBody>
      </p:sp>
      <p:sp>
        <p:nvSpPr>
          <p:cNvPr id="318" name="Google Shape;318;p26"/>
          <p:cNvSpPr txBox="1"/>
          <p:nvPr/>
        </p:nvSpPr>
        <p:spPr>
          <a:xfrm>
            <a:off x="1000125" y="2724150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1000125" y="3048000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6524625" y="2724150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6520989" y="3037814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pic>
        <p:nvPicPr>
          <p:cNvPr id="322" name="Google Shape;322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969733" y="3056875"/>
            <a:ext cx="971644" cy="2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063972" y="3061975"/>
            <a:ext cx="9239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6"/>
          <p:cNvSpPr txBox="1"/>
          <p:nvPr/>
        </p:nvSpPr>
        <p:spPr>
          <a:xfrm>
            <a:off x="6524550" y="3328350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325" name="Google Shape;325;p26"/>
          <p:cNvSpPr txBox="1"/>
          <p:nvPr/>
        </p:nvSpPr>
        <p:spPr>
          <a:xfrm>
            <a:off x="661150" y="6319825"/>
            <a:ext cx="1019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 err="1"/>
              <a:t>신지안</a:t>
            </a:r>
            <a:r>
              <a:rPr lang="en-US" sz="1200" i="1" dirty="0"/>
              <a:t> 외, "</a:t>
            </a:r>
            <a:r>
              <a:rPr lang="en-US" sz="1200" i="1" dirty="0" err="1"/>
              <a:t>키스트로크</a:t>
            </a:r>
            <a:r>
              <a:rPr lang="en-US" sz="1200" i="1" dirty="0"/>
              <a:t> </a:t>
            </a:r>
            <a:r>
              <a:rPr lang="en-US" sz="1200" i="1" dirty="0" err="1"/>
              <a:t>다이나믹스</a:t>
            </a:r>
            <a:r>
              <a:rPr lang="en-US" sz="1200" i="1" dirty="0"/>
              <a:t> 및 </a:t>
            </a:r>
            <a:r>
              <a:rPr lang="en-US" sz="1200" i="1" dirty="0" err="1"/>
              <a:t>적응형</a:t>
            </a:r>
            <a:r>
              <a:rPr lang="en-US" sz="1200" i="1" dirty="0"/>
              <a:t> </a:t>
            </a:r>
            <a:r>
              <a:rPr lang="en-US" sz="1200" i="1" dirty="0" err="1"/>
              <a:t>위험</a:t>
            </a:r>
            <a:r>
              <a:rPr lang="en-US" sz="1200" i="1" dirty="0"/>
              <a:t> </a:t>
            </a:r>
            <a:r>
              <a:rPr lang="en-US" sz="1200" i="1" dirty="0" err="1"/>
              <a:t>기반</a:t>
            </a:r>
            <a:r>
              <a:rPr lang="en-US" sz="1200" i="1" dirty="0"/>
              <a:t> </a:t>
            </a:r>
            <a:r>
              <a:rPr lang="en-US" sz="1200" i="1" dirty="0" err="1"/>
              <a:t>인증방식을</a:t>
            </a:r>
            <a:r>
              <a:rPr lang="en-US" sz="1200" i="1" dirty="0"/>
              <a:t> </a:t>
            </a:r>
            <a:r>
              <a:rPr lang="en-US" sz="1200" i="1" dirty="0" err="1"/>
              <a:t>활용한</a:t>
            </a:r>
            <a:r>
              <a:rPr lang="en-US" sz="1200" i="1" dirty="0"/>
              <a:t> </a:t>
            </a:r>
            <a:r>
              <a:rPr lang="en-US" sz="1200" i="1" dirty="0" err="1"/>
              <a:t>사용자</a:t>
            </a:r>
            <a:r>
              <a:rPr lang="en-US" sz="1200" i="1" dirty="0"/>
              <a:t> </a:t>
            </a:r>
            <a:r>
              <a:rPr lang="en-US" sz="1200" i="1" dirty="0" err="1"/>
              <a:t>인증</a:t>
            </a:r>
            <a:r>
              <a:rPr lang="en-US" sz="1200" i="1" dirty="0"/>
              <a:t> </a:t>
            </a:r>
            <a:r>
              <a:rPr lang="en-US" sz="1200" i="1" dirty="0" err="1"/>
              <a:t>시스템</a:t>
            </a:r>
            <a:r>
              <a:rPr lang="en-US" sz="1200" i="1" dirty="0"/>
              <a:t> </a:t>
            </a:r>
            <a:r>
              <a:rPr lang="en-US" sz="1200" i="1" dirty="0" err="1"/>
              <a:t>구현</a:t>
            </a:r>
            <a:r>
              <a:rPr lang="en-US" sz="1200" i="1" dirty="0"/>
              <a:t>", </a:t>
            </a:r>
            <a:r>
              <a:rPr lang="en-US" sz="1200" i="1" dirty="0" err="1"/>
              <a:t>대한전기학회</a:t>
            </a:r>
            <a:r>
              <a:rPr lang="en-US" sz="1200" i="1" dirty="0"/>
              <a:t> </a:t>
            </a:r>
            <a:r>
              <a:rPr lang="en-US" sz="1200" i="1" dirty="0" err="1"/>
              <a:t>논문지</a:t>
            </a:r>
            <a:r>
              <a:rPr lang="en-US" sz="1200" i="1" dirty="0"/>
              <a:t>, 69권 4호, pp. 267-274, 2020. </a:t>
            </a:r>
            <a:endParaRPr sz="1200" i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848225"/>
            <a:ext cx="1066800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7"/>
          <p:cNvSpPr txBox="1"/>
          <p:nvPr/>
        </p:nvSpPr>
        <p:spPr>
          <a:xfrm>
            <a:off x="1323975" y="571500"/>
            <a:ext cx="1061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One-Class SVM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최적화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실험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(2)</a:t>
            </a:r>
            <a:endParaRPr dirty="0"/>
          </a:p>
        </p:txBody>
      </p:sp>
      <p:pic>
        <p:nvPicPr>
          <p:cNvPr id="332" name="Google Shape;33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2710"/>
            <a:ext cx="4191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7"/>
          <p:cNvSpPr/>
          <p:nvPr/>
        </p:nvSpPr>
        <p:spPr>
          <a:xfrm>
            <a:off x="762000" y="2143125"/>
            <a:ext cx="10668000" cy="2514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4" name="Google Shape;334;p27"/>
          <p:cNvGraphicFramePr/>
          <p:nvPr>
            <p:extLst>
              <p:ext uri="{D42A27DB-BD31-4B8C-83A1-F6EECF244321}">
                <p14:modId xmlns:p14="http://schemas.microsoft.com/office/powerpoint/2010/main" val="957186313"/>
              </p:ext>
            </p:extLst>
          </p:nvPr>
        </p:nvGraphicFramePr>
        <p:xfrm>
          <a:off x="762000" y="2143125"/>
          <a:ext cx="10668000" cy="2514600"/>
        </p:xfrm>
        <a:graphic>
          <a:graphicData uri="http://schemas.openxmlformats.org/drawingml/2006/table">
            <a:tbl>
              <a:tblPr firstRow="1" bandRow="1">
                <a:noFill/>
                <a:tableStyleId>{B6E0D2BD-2155-4C02-B294-2F15D94BEF02}</a:tableStyleId>
              </a:tblPr>
              <a:tblGrid>
                <a:gridCol w="505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실험 조건 및 튜닝 내용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평균 FRR (오거부)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평균 FAR (오인식)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Z-score 기준 이상치 제거</a:t>
                      </a: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(Threshold 3.0 강한 필터링)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u="none" strike="noStrike" cap="none">
                          <a:solidFill>
                            <a:srgbClr val="DD5B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47.01%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0.53%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Robust Scaler + Z-score 필터링</a:t>
                      </a: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(Threshold 3.0)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43.96%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0.80%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Robust Scaler + Z-score 임계값 완화</a:t>
                      </a: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(Threshold 4.0)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35.32%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1.93%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이상치</a:t>
                      </a:r>
                      <a:r>
                        <a:rPr lang="en-US" sz="1150" b="1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1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허용</a:t>
                      </a:r>
                      <a:r>
                        <a:rPr lang="en-US" sz="1150" b="1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1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기준</a:t>
                      </a:r>
                      <a:r>
                        <a:rPr lang="en-US" sz="1150" b="1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1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완화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시도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제거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대신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타건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오류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3개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미만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허용</a:t>
                      </a: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22.16%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6.21%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논문 방식 적용</a:t>
                      </a: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(K-S 검정 + KNN)</a:t>
                      </a:r>
                      <a:endParaRPr sz="1500"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10.90%</a:t>
                      </a:r>
                      <a:endParaRPr sz="15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10.56%</a:t>
                      </a:r>
                      <a:endParaRPr sz="15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5" name="Google Shape;335;p27"/>
          <p:cNvSpPr/>
          <p:nvPr/>
        </p:nvSpPr>
        <p:spPr>
          <a:xfrm>
            <a:off x="762000" y="2547937"/>
            <a:ext cx="50532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5815161" y="2547937"/>
            <a:ext cx="2807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8622506" y="2547937"/>
            <a:ext cx="2807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1000125" y="5086350"/>
            <a:ext cx="10191900" cy="2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5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실험</a:t>
            </a:r>
            <a:r>
              <a:rPr lang="en-US" sz="1325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결론</a:t>
            </a:r>
            <a:r>
              <a:rPr lang="en-US" sz="1325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참고한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논문에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유사한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수준의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정확도가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나오는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것을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확인</a:t>
            </a:r>
            <a:endParaRPr sz="1600" dirty="0"/>
          </a:p>
        </p:txBody>
      </p:sp>
      <p:sp>
        <p:nvSpPr>
          <p:cNvPr id="339" name="Google Shape;339;p27"/>
          <p:cNvSpPr/>
          <p:nvPr/>
        </p:nvSpPr>
        <p:spPr>
          <a:xfrm>
            <a:off x="762000" y="2967037"/>
            <a:ext cx="50532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5815161" y="2967037"/>
            <a:ext cx="2807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8622506" y="2967037"/>
            <a:ext cx="2807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762000" y="3386137"/>
            <a:ext cx="50532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5815161" y="3386137"/>
            <a:ext cx="2807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8622506" y="3386137"/>
            <a:ext cx="2807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762000" y="3805237"/>
            <a:ext cx="50532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5815161" y="3805237"/>
            <a:ext cx="2807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8622506" y="3805237"/>
            <a:ext cx="2807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762000" y="4224337"/>
            <a:ext cx="50532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5815161" y="4224337"/>
            <a:ext cx="2807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8622506" y="4224337"/>
            <a:ext cx="2807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762000" y="4643437"/>
            <a:ext cx="50532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5815161" y="4643437"/>
            <a:ext cx="2807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8622506" y="4643437"/>
            <a:ext cx="2807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7"/>
          <p:cNvSpPr txBox="1"/>
          <p:nvPr/>
        </p:nvSpPr>
        <p:spPr>
          <a:xfrm>
            <a:off x="661150" y="6319825"/>
            <a:ext cx="1019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/>
              <a:t>신지안 외, "키스트로크 다이나믹스 및 적응형 위험 기반 인증방식을 활용한 사용자 인증 시스템 구현", 대한전기학회 논문지, 69권 4호, pp. 267-274, 2020. </a:t>
            </a:r>
            <a:endParaRPr sz="1200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428875"/>
            <a:ext cx="514350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428875"/>
            <a:ext cx="514350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8"/>
          <p:cNvSpPr txBox="1"/>
          <p:nvPr/>
        </p:nvSpPr>
        <p:spPr>
          <a:xfrm>
            <a:off x="1238250" y="571501"/>
            <a:ext cx="107013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ko-KR" altLang="en-US" sz="2700" b="1" dirty="0">
                <a:latin typeface="Inter"/>
                <a:ea typeface="Inter"/>
                <a:cs typeface="Inter"/>
                <a:sym typeface="Inter"/>
              </a:rPr>
              <a:t>알고리즘 비교 평가</a:t>
            </a:r>
            <a:endParaRPr lang="ko-KR" altLang="en-US" sz="2700" dirty="0"/>
          </a:p>
        </p:txBody>
      </p:sp>
      <p:pic>
        <p:nvPicPr>
          <p:cNvPr id="362" name="Google Shape;36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12008"/>
            <a:ext cx="3333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8"/>
          <p:cNvSpPr txBox="1"/>
          <p:nvPr/>
        </p:nvSpPr>
        <p:spPr>
          <a:xfrm>
            <a:off x="1247775" y="2667000"/>
            <a:ext cx="4640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맨해튼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거리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(LOSO / LOO)</a:t>
            </a:r>
            <a:endParaRPr sz="1500" dirty="0"/>
          </a:p>
        </p:txBody>
      </p:sp>
      <p:pic>
        <p:nvPicPr>
          <p:cNvPr id="364" name="Google Shape;364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0125" y="269557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8"/>
          <p:cNvSpPr txBox="1"/>
          <p:nvPr/>
        </p:nvSpPr>
        <p:spPr>
          <a:xfrm>
            <a:off x="1171575" y="3009900"/>
            <a:ext cx="44958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Robust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스케일러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(LOSO):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EER 10.52% | FRR 10.69% | FAR 10.35%</a:t>
            </a:r>
            <a:endParaRPr sz="1500" dirty="0"/>
          </a:p>
        </p:txBody>
      </p:sp>
      <p:sp>
        <p:nvSpPr>
          <p:cNvPr id="366" name="Google Shape;366;p28"/>
          <p:cNvSpPr txBox="1"/>
          <p:nvPr/>
        </p:nvSpPr>
        <p:spPr>
          <a:xfrm>
            <a:off x="1171575" y="3562350"/>
            <a:ext cx="44958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Standard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스케일러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(LOSO):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EER 8.58%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| FRR 8.67% | FAR 8.49%</a:t>
            </a:r>
            <a:endParaRPr sz="1500" dirty="0"/>
          </a:p>
        </p:txBody>
      </p:sp>
      <p:sp>
        <p:nvSpPr>
          <p:cNvPr id="367" name="Google Shape;367;p28"/>
          <p:cNvSpPr txBox="1"/>
          <p:nvPr/>
        </p:nvSpPr>
        <p:spPr>
          <a:xfrm>
            <a:off x="1171575" y="4114800"/>
            <a:ext cx="4495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목표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FAR 2%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인위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설정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시: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300" b="1" i="0" u="sng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FAR 1.45% | FRR 21.70% </a:t>
            </a:r>
            <a:endParaRPr sz="1500" b="1" u="sng" dirty="0"/>
          </a:p>
        </p:txBody>
      </p:sp>
      <p:sp>
        <p:nvSpPr>
          <p:cNvPr id="368" name="Google Shape;368;p28"/>
          <p:cNvSpPr txBox="1"/>
          <p:nvPr/>
        </p:nvSpPr>
        <p:spPr>
          <a:xfrm>
            <a:off x="1171575" y="4438650"/>
            <a:ext cx="44958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LOO-CV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평가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방식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적용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시: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EER 8.51%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| FRR 8.46% | FAR 8.56%</a:t>
            </a:r>
            <a:endParaRPr sz="1500" dirty="0"/>
          </a:p>
        </p:txBody>
      </p:sp>
      <p:sp>
        <p:nvSpPr>
          <p:cNvPr id="369" name="Google Shape;369;p28"/>
          <p:cNvSpPr txBox="1"/>
          <p:nvPr/>
        </p:nvSpPr>
        <p:spPr>
          <a:xfrm>
            <a:off x="6791325" y="2667000"/>
            <a:ext cx="46206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타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알고리즘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지표</a:t>
            </a:r>
            <a:endParaRPr sz="1500" dirty="0"/>
          </a:p>
        </p:txBody>
      </p:sp>
      <p:sp>
        <p:nvSpPr>
          <p:cNvPr id="370" name="Google Shape;370;p28"/>
          <p:cNvSpPr txBox="1"/>
          <p:nvPr/>
        </p:nvSpPr>
        <p:spPr>
          <a:xfrm>
            <a:off x="1000125" y="3009900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1" name="Google Shape;371;p28"/>
          <p:cNvSpPr txBox="1"/>
          <p:nvPr/>
        </p:nvSpPr>
        <p:spPr>
          <a:xfrm>
            <a:off x="1000125" y="3562350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2" name="Google Shape;372;p28"/>
          <p:cNvSpPr txBox="1"/>
          <p:nvPr/>
        </p:nvSpPr>
        <p:spPr>
          <a:xfrm>
            <a:off x="1000125" y="4114800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3" name="Google Shape;373;p28"/>
          <p:cNvSpPr txBox="1"/>
          <p:nvPr/>
        </p:nvSpPr>
        <p:spPr>
          <a:xfrm>
            <a:off x="1000125" y="4438650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374" name="Google Shape;374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4625" y="2695575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8"/>
          <p:cNvSpPr txBox="1"/>
          <p:nvPr/>
        </p:nvSpPr>
        <p:spPr>
          <a:xfrm>
            <a:off x="6696075" y="3009900"/>
            <a:ext cx="4495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Isolation Forest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알고리즘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평균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EER 8.74%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500" dirty="0"/>
          </a:p>
        </p:txBody>
      </p:sp>
      <p:sp>
        <p:nvSpPr>
          <p:cNvPr id="376" name="Google Shape;376;p28"/>
          <p:cNvSpPr txBox="1"/>
          <p:nvPr/>
        </p:nvSpPr>
        <p:spPr>
          <a:xfrm>
            <a:off x="6696075" y="3562350"/>
            <a:ext cx="44958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마할라노비스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거리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EER 10.95% | FRR 11.02% | FAR 10.88% </a:t>
            </a:r>
            <a:endParaRPr sz="1500" dirty="0"/>
          </a:p>
        </p:txBody>
      </p:sp>
      <p:sp>
        <p:nvSpPr>
          <p:cNvPr id="377" name="Google Shape;377;p28"/>
          <p:cNvSpPr txBox="1"/>
          <p:nvPr/>
        </p:nvSpPr>
        <p:spPr>
          <a:xfrm>
            <a:off x="6524625" y="3009900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6524625" y="3562350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9" name="Google Shape;379;p28"/>
          <p:cNvSpPr txBox="1"/>
          <p:nvPr/>
        </p:nvSpPr>
        <p:spPr>
          <a:xfrm>
            <a:off x="6610425" y="4332900"/>
            <a:ext cx="40893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7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참고</a:t>
            </a:r>
            <a:r>
              <a:rPr lang="en-US" sz="137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7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논문의</a:t>
            </a:r>
            <a:r>
              <a:rPr lang="en-US" sz="137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7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결과</a:t>
            </a:r>
            <a:r>
              <a:rPr lang="en-US" sz="137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 FAR 4% | FRR 21% </a:t>
            </a:r>
            <a:endParaRPr b="1" dirty="0"/>
          </a:p>
        </p:txBody>
      </p:sp>
      <p:sp>
        <p:nvSpPr>
          <p:cNvPr id="380" name="Google Shape;380;p28"/>
          <p:cNvSpPr txBox="1"/>
          <p:nvPr/>
        </p:nvSpPr>
        <p:spPr>
          <a:xfrm>
            <a:off x="6519189" y="4431801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3" name="Google Shape;383;p28"/>
          <p:cNvSpPr txBox="1"/>
          <p:nvPr/>
        </p:nvSpPr>
        <p:spPr>
          <a:xfrm>
            <a:off x="661150" y="6319825"/>
            <a:ext cx="1019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/>
              <a:t>신지안 외, "키스트로크 다이나믹스 및 적응형 위험 기반 인증방식을 활용한 사용자 인증 시스템 구현", 대한전기학회 논문지, 69권 4호, pp. 267-274, 2020. </a:t>
            </a:r>
            <a:endParaRPr sz="1200" i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988176"/>
            <a:ext cx="3403550" cy="218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4150" y="2988176"/>
            <a:ext cx="3403550" cy="218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6300" y="2988176"/>
            <a:ext cx="3403700" cy="218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9"/>
          <p:cNvSpPr txBox="1"/>
          <p:nvPr/>
        </p:nvSpPr>
        <p:spPr>
          <a:xfrm>
            <a:off x="1285875" y="571500"/>
            <a:ext cx="10651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최종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인증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알고리즘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맨해튼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거리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(Manhattan Distance)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선정</a:t>
            </a:r>
            <a:endParaRPr dirty="0"/>
          </a:p>
        </p:txBody>
      </p:sp>
      <p:pic>
        <p:nvPicPr>
          <p:cNvPr id="392" name="Google Shape;392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01305"/>
            <a:ext cx="381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9"/>
          <p:cNvSpPr txBox="1"/>
          <p:nvPr/>
        </p:nvSpPr>
        <p:spPr>
          <a:xfrm>
            <a:off x="1076325" y="3254871"/>
            <a:ext cx="29937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3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입증된</a:t>
            </a:r>
            <a:r>
              <a:rPr lang="en-US" sz="13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최상위</a:t>
            </a:r>
            <a:r>
              <a:rPr lang="en-US" sz="13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endParaRPr sz="1500" dirty="0"/>
          </a:p>
        </p:txBody>
      </p:sp>
      <p:sp>
        <p:nvSpPr>
          <p:cNvPr id="394" name="Google Shape;394;p29"/>
          <p:cNvSpPr txBox="1"/>
          <p:nvPr/>
        </p:nvSpPr>
        <p:spPr>
          <a:xfrm>
            <a:off x="1000125" y="3578721"/>
            <a:ext cx="2927400" cy="11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Standard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Scaler와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결합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시 </a:t>
            </a:r>
            <a:r>
              <a:rPr lang="en-US" sz="12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EER 8.58%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, LOO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검증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시 </a:t>
            </a:r>
            <a:r>
              <a:rPr lang="en-US" sz="12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EER 8.51%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를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기록하며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타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복합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모델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알고리즘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대비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가장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우수한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정확도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증명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sp>
        <p:nvSpPr>
          <p:cNvPr id="395" name="Google Shape;395;p29"/>
          <p:cNvSpPr txBox="1"/>
          <p:nvPr/>
        </p:nvSpPr>
        <p:spPr>
          <a:xfrm>
            <a:off x="4841825" y="3254871"/>
            <a:ext cx="2853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3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극도로</a:t>
            </a:r>
            <a:r>
              <a:rPr lang="en-US" sz="13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낮은</a:t>
            </a:r>
            <a:r>
              <a:rPr lang="en-US" sz="13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연산</a:t>
            </a:r>
            <a:r>
              <a:rPr lang="en-US" sz="13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복잡도</a:t>
            </a:r>
            <a:endParaRPr sz="1500" dirty="0"/>
          </a:p>
        </p:txBody>
      </p:sp>
      <p:sp>
        <p:nvSpPr>
          <p:cNvPr id="396" name="Google Shape;396;p29"/>
          <p:cNvSpPr txBox="1"/>
          <p:nvPr/>
        </p:nvSpPr>
        <p:spPr>
          <a:xfrm>
            <a:off x="4632275" y="3578721"/>
            <a:ext cx="2927400" cy="11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 err="1">
                <a:solidFill>
                  <a:schemeClr val="dk1"/>
                </a:solidFill>
              </a:rPr>
              <a:t>복잡한</a:t>
            </a:r>
            <a:r>
              <a:rPr lang="en-US" sz="1250" dirty="0">
                <a:solidFill>
                  <a:schemeClr val="dk1"/>
                </a:solidFill>
              </a:rPr>
              <a:t> </a:t>
            </a:r>
            <a:r>
              <a:rPr lang="en-US" sz="1250" dirty="0" err="1">
                <a:solidFill>
                  <a:schemeClr val="dk1"/>
                </a:solidFill>
              </a:rPr>
              <a:t>행렬</a:t>
            </a:r>
            <a:r>
              <a:rPr lang="en-US" sz="1250" dirty="0">
                <a:solidFill>
                  <a:schemeClr val="dk1"/>
                </a:solidFill>
              </a:rPr>
              <a:t> </a:t>
            </a:r>
            <a:r>
              <a:rPr lang="en-US" sz="1250" dirty="0" err="1">
                <a:solidFill>
                  <a:schemeClr val="dk1"/>
                </a:solidFill>
              </a:rPr>
              <a:t>연산이나</a:t>
            </a:r>
            <a:r>
              <a:rPr lang="en-US" sz="1250" dirty="0">
                <a:solidFill>
                  <a:schemeClr val="dk1"/>
                </a:solidFill>
              </a:rPr>
              <a:t> </a:t>
            </a:r>
            <a:r>
              <a:rPr lang="en-US" sz="1250" dirty="0" err="1">
                <a:solidFill>
                  <a:schemeClr val="dk1"/>
                </a:solidFill>
              </a:rPr>
              <a:t>모델</a:t>
            </a:r>
            <a:r>
              <a:rPr lang="en-US" sz="1250" dirty="0">
                <a:solidFill>
                  <a:schemeClr val="dk1"/>
                </a:solidFill>
              </a:rPr>
              <a:t> </a:t>
            </a:r>
            <a:r>
              <a:rPr lang="en-US" sz="1250" dirty="0" err="1">
                <a:solidFill>
                  <a:schemeClr val="dk1"/>
                </a:solidFill>
              </a:rPr>
              <a:t>학습</a:t>
            </a:r>
            <a:r>
              <a:rPr lang="en-US" sz="1250" dirty="0">
                <a:solidFill>
                  <a:schemeClr val="dk1"/>
                </a:solidFill>
              </a:rPr>
              <a:t> </a:t>
            </a:r>
            <a:r>
              <a:rPr lang="en-US" sz="1250" dirty="0" err="1">
                <a:solidFill>
                  <a:schemeClr val="dk1"/>
                </a:solidFill>
              </a:rPr>
              <a:t>없이</a:t>
            </a:r>
            <a:r>
              <a:rPr lang="en-US" sz="1250" dirty="0">
                <a:solidFill>
                  <a:schemeClr val="dk1"/>
                </a:solidFill>
              </a:rPr>
              <a:t>, </a:t>
            </a:r>
            <a:r>
              <a:rPr lang="en-US" sz="1250" dirty="0" err="1">
                <a:solidFill>
                  <a:schemeClr val="dk1"/>
                </a:solidFill>
              </a:rPr>
              <a:t>단순</a:t>
            </a:r>
            <a:r>
              <a:rPr lang="en-US" sz="1250" dirty="0">
                <a:solidFill>
                  <a:schemeClr val="dk1"/>
                </a:solidFill>
              </a:rPr>
              <a:t> </a:t>
            </a:r>
            <a:r>
              <a:rPr lang="en-US" sz="1250" dirty="0" err="1">
                <a:solidFill>
                  <a:schemeClr val="dk1"/>
                </a:solidFill>
              </a:rPr>
              <a:t>절대값</a:t>
            </a:r>
            <a:r>
              <a:rPr lang="en-US" sz="1250" dirty="0">
                <a:solidFill>
                  <a:schemeClr val="dk1"/>
                </a:solidFill>
              </a:rPr>
              <a:t> </a:t>
            </a:r>
            <a:r>
              <a:rPr lang="en-US" sz="1250" dirty="0" err="1">
                <a:solidFill>
                  <a:schemeClr val="dk1"/>
                </a:solidFill>
              </a:rPr>
              <a:t>차이</a:t>
            </a:r>
            <a:r>
              <a:rPr lang="en-US" sz="1250" dirty="0">
                <a:solidFill>
                  <a:schemeClr val="dk1"/>
                </a:solidFill>
              </a:rPr>
              <a:t> </a:t>
            </a:r>
            <a:r>
              <a:rPr lang="en-US" sz="1250" dirty="0" err="1">
                <a:solidFill>
                  <a:schemeClr val="dk1"/>
                </a:solidFill>
              </a:rPr>
              <a:t>합산만으로</a:t>
            </a:r>
            <a:r>
              <a:rPr lang="en-US" sz="1250" dirty="0">
                <a:solidFill>
                  <a:schemeClr val="dk1"/>
                </a:solidFill>
              </a:rPr>
              <a:t> </a:t>
            </a:r>
            <a:r>
              <a:rPr lang="en-US" sz="1250" dirty="0" err="1">
                <a:solidFill>
                  <a:schemeClr val="dk1"/>
                </a:solidFill>
              </a:rPr>
              <a:t>동작하여</a:t>
            </a:r>
            <a:r>
              <a:rPr lang="en-US" sz="1250" dirty="0">
                <a:solidFill>
                  <a:schemeClr val="dk1"/>
                </a:solidFill>
              </a:rPr>
              <a:t> </a:t>
            </a:r>
            <a:r>
              <a:rPr lang="en-US" sz="1250" b="1" dirty="0" err="1">
                <a:solidFill>
                  <a:schemeClr val="dk1"/>
                </a:solidFill>
              </a:rPr>
              <a:t>서버</a:t>
            </a:r>
            <a:r>
              <a:rPr lang="en-US" sz="1250" b="1" dirty="0">
                <a:solidFill>
                  <a:schemeClr val="dk1"/>
                </a:solidFill>
              </a:rPr>
              <a:t> </a:t>
            </a:r>
            <a:r>
              <a:rPr lang="en-US" sz="1250" b="1" dirty="0" err="1">
                <a:solidFill>
                  <a:schemeClr val="dk1"/>
                </a:solidFill>
              </a:rPr>
              <a:t>자원</a:t>
            </a:r>
            <a:r>
              <a:rPr lang="en-US" sz="1250" b="1" dirty="0">
                <a:solidFill>
                  <a:schemeClr val="dk1"/>
                </a:solidFill>
              </a:rPr>
              <a:t>(CPU/</a:t>
            </a:r>
            <a:r>
              <a:rPr lang="en-US" sz="1250" b="1" dirty="0" err="1">
                <a:solidFill>
                  <a:schemeClr val="dk1"/>
                </a:solidFill>
              </a:rPr>
              <a:t>메모리</a:t>
            </a:r>
            <a:r>
              <a:rPr lang="en-US" sz="1250" b="1" dirty="0">
                <a:solidFill>
                  <a:schemeClr val="dk1"/>
                </a:solidFill>
              </a:rPr>
              <a:t>) </a:t>
            </a:r>
            <a:r>
              <a:rPr lang="en-US" sz="1250" b="1" dirty="0" err="1">
                <a:solidFill>
                  <a:schemeClr val="dk1"/>
                </a:solidFill>
              </a:rPr>
              <a:t>소모</a:t>
            </a:r>
            <a:r>
              <a:rPr lang="en-US" sz="1250" dirty="0" err="1">
                <a:solidFill>
                  <a:schemeClr val="dk1"/>
                </a:solidFill>
              </a:rPr>
              <a:t>를</a:t>
            </a:r>
            <a:r>
              <a:rPr lang="en-US" sz="1250" dirty="0">
                <a:solidFill>
                  <a:schemeClr val="dk1"/>
                </a:solidFill>
              </a:rPr>
              <a:t> </a:t>
            </a:r>
            <a:r>
              <a:rPr lang="en-US" sz="1250" dirty="0" err="1">
                <a:solidFill>
                  <a:schemeClr val="dk1"/>
                </a:solidFill>
              </a:rPr>
              <a:t>줄이고</a:t>
            </a:r>
            <a:r>
              <a:rPr lang="en-US" sz="1250" dirty="0">
                <a:solidFill>
                  <a:schemeClr val="dk1"/>
                </a:solidFill>
              </a:rPr>
              <a:t> </a:t>
            </a:r>
            <a:r>
              <a:rPr lang="en-US" sz="1250" b="1" dirty="0" err="1">
                <a:solidFill>
                  <a:schemeClr val="dk1"/>
                </a:solidFill>
              </a:rPr>
              <a:t>로그인</a:t>
            </a:r>
            <a:r>
              <a:rPr lang="en-US" sz="1250" b="1" dirty="0">
                <a:solidFill>
                  <a:schemeClr val="dk1"/>
                </a:solidFill>
              </a:rPr>
              <a:t> </a:t>
            </a:r>
            <a:r>
              <a:rPr lang="en-US" sz="1250" b="1" dirty="0" err="1">
                <a:solidFill>
                  <a:schemeClr val="dk1"/>
                </a:solidFill>
              </a:rPr>
              <a:t>시간</a:t>
            </a:r>
            <a:r>
              <a:rPr lang="en-US" sz="1250" b="1" dirty="0">
                <a:solidFill>
                  <a:schemeClr val="dk1"/>
                </a:solidFill>
              </a:rPr>
              <a:t> </a:t>
            </a:r>
            <a:r>
              <a:rPr lang="en-US" sz="1250" b="1" dirty="0" err="1">
                <a:solidFill>
                  <a:schemeClr val="dk1"/>
                </a:solidFill>
              </a:rPr>
              <a:t>지연을</a:t>
            </a:r>
            <a:r>
              <a:rPr lang="en-US" sz="1250" b="1" dirty="0">
                <a:solidFill>
                  <a:schemeClr val="dk1"/>
                </a:solidFill>
              </a:rPr>
              <a:t> </a:t>
            </a:r>
            <a:r>
              <a:rPr lang="en-US" sz="1250" b="1" dirty="0" err="1">
                <a:solidFill>
                  <a:schemeClr val="dk1"/>
                </a:solidFill>
              </a:rPr>
              <a:t>최소화</a:t>
            </a:r>
            <a:endParaRPr sz="1250" b="1" dirty="0"/>
          </a:p>
        </p:txBody>
      </p:sp>
      <p:sp>
        <p:nvSpPr>
          <p:cNvPr id="397" name="Google Shape;397;p29"/>
          <p:cNvSpPr txBox="1"/>
          <p:nvPr/>
        </p:nvSpPr>
        <p:spPr>
          <a:xfrm>
            <a:off x="8473975" y="3254871"/>
            <a:ext cx="28539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3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3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경량성</a:t>
            </a:r>
            <a:r>
              <a:rPr lang="en-US" sz="13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유지</a:t>
            </a:r>
            <a:endParaRPr sz="1500" dirty="0"/>
          </a:p>
        </p:txBody>
      </p:sp>
      <p:sp>
        <p:nvSpPr>
          <p:cNvPr id="398" name="Google Shape;398;p29"/>
          <p:cNvSpPr txBox="1"/>
          <p:nvPr/>
        </p:nvSpPr>
        <p:spPr>
          <a:xfrm>
            <a:off x="8264425" y="3578721"/>
            <a:ext cx="2927400" cy="8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복잡한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하이퍼파라미터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튜닝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없이도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소량의</a:t>
            </a:r>
            <a:r>
              <a:rPr lang="en-US" sz="12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참조</a:t>
            </a:r>
            <a:r>
              <a:rPr lang="en-US" sz="12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데이터셋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만으로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사용자의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고유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타건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프로파일을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즉시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구축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가능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pic>
        <p:nvPicPr>
          <p:cNvPr id="399" name="Google Shape;399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2275" y="328344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64425" y="3283446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"/>
          <p:cNvSpPr txBox="1"/>
          <p:nvPr/>
        </p:nvSpPr>
        <p:spPr>
          <a:xfrm>
            <a:off x="837225" y="475350"/>
            <a:ext cx="10651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latin typeface="Inter"/>
                <a:ea typeface="Inter"/>
                <a:cs typeface="Inter"/>
                <a:sym typeface="Inter"/>
              </a:rPr>
              <a:t>Subject’002’ </a:t>
            </a:r>
            <a:r>
              <a:rPr lang="en-US" sz="2700" b="1" dirty="0" err="1">
                <a:latin typeface="Inter"/>
                <a:ea typeface="Inter"/>
                <a:cs typeface="Inter"/>
                <a:sym typeface="Inter"/>
              </a:rPr>
              <a:t>세션</a:t>
            </a:r>
            <a:r>
              <a:rPr lang="en-US" sz="2700" b="1" dirty="0">
                <a:latin typeface="Inter"/>
                <a:ea typeface="Inter"/>
                <a:cs typeface="Inter"/>
                <a:sym typeface="Inter"/>
              </a:rPr>
              <a:t> 별 </a:t>
            </a:r>
            <a:r>
              <a:rPr lang="en-US" sz="2700" b="1" dirty="0" err="1">
                <a:latin typeface="Inter"/>
                <a:ea typeface="Inter"/>
                <a:cs typeface="Inter"/>
                <a:sym typeface="Inter"/>
              </a:rPr>
              <a:t>평균</a:t>
            </a:r>
            <a:r>
              <a:rPr lang="en-US" sz="2700" b="1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dirty="0" err="1">
                <a:latin typeface="Inter"/>
                <a:ea typeface="Inter"/>
                <a:cs typeface="Inter"/>
                <a:sym typeface="Inter"/>
              </a:rPr>
              <a:t>입력</a:t>
            </a:r>
            <a:endParaRPr dirty="0"/>
          </a:p>
        </p:txBody>
      </p:sp>
      <p:pic>
        <p:nvPicPr>
          <p:cNvPr id="406" name="Google Shape;4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538" y="1203475"/>
            <a:ext cx="9518574" cy="53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"/>
          <p:cNvSpPr txBox="1"/>
          <p:nvPr/>
        </p:nvSpPr>
        <p:spPr>
          <a:xfrm>
            <a:off x="837225" y="464675"/>
            <a:ext cx="10651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latin typeface="Inter"/>
                <a:ea typeface="Inter"/>
                <a:cs typeface="Inter"/>
                <a:sym typeface="Inter"/>
              </a:rPr>
              <a:t>Subject’003’ </a:t>
            </a:r>
            <a:r>
              <a:rPr lang="en-US" sz="2700" b="1" dirty="0" err="1">
                <a:latin typeface="Inter"/>
                <a:ea typeface="Inter"/>
                <a:cs typeface="Inter"/>
                <a:sym typeface="Inter"/>
              </a:rPr>
              <a:t>세션</a:t>
            </a:r>
            <a:r>
              <a:rPr lang="en-US" sz="2700" b="1" dirty="0">
                <a:latin typeface="Inter"/>
                <a:ea typeface="Inter"/>
                <a:cs typeface="Inter"/>
                <a:sym typeface="Inter"/>
              </a:rPr>
              <a:t> 별 </a:t>
            </a:r>
            <a:r>
              <a:rPr lang="en-US" sz="2700" b="1" dirty="0" err="1">
                <a:latin typeface="Inter"/>
                <a:ea typeface="Inter"/>
                <a:cs typeface="Inter"/>
                <a:sym typeface="Inter"/>
              </a:rPr>
              <a:t>평균</a:t>
            </a:r>
            <a:r>
              <a:rPr lang="en-US" sz="2700" b="1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dirty="0" err="1">
                <a:latin typeface="Inter"/>
                <a:ea typeface="Inter"/>
                <a:cs typeface="Inter"/>
                <a:sym typeface="Inter"/>
              </a:rPr>
              <a:t>입력</a:t>
            </a:r>
            <a:endParaRPr dirty="0"/>
          </a:p>
        </p:txBody>
      </p:sp>
      <p:pic>
        <p:nvPicPr>
          <p:cNvPr id="412" name="Google Shape;4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550" y="1064600"/>
            <a:ext cx="9518550" cy="5508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2"/>
          <p:cNvSpPr txBox="1"/>
          <p:nvPr/>
        </p:nvSpPr>
        <p:spPr>
          <a:xfrm>
            <a:off x="770400" y="379225"/>
            <a:ext cx="10651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latin typeface="Inter"/>
                <a:ea typeface="Inter"/>
                <a:cs typeface="Inter"/>
                <a:sym typeface="Inter"/>
              </a:rPr>
              <a:t>Subject’036’ </a:t>
            </a:r>
            <a:r>
              <a:rPr lang="en-US" sz="2700" b="1" dirty="0" err="1">
                <a:latin typeface="Inter"/>
                <a:ea typeface="Inter"/>
                <a:cs typeface="Inter"/>
                <a:sym typeface="Inter"/>
              </a:rPr>
              <a:t>세션</a:t>
            </a:r>
            <a:r>
              <a:rPr lang="en-US" sz="2700" b="1" dirty="0">
                <a:latin typeface="Inter"/>
                <a:ea typeface="Inter"/>
                <a:cs typeface="Inter"/>
                <a:sym typeface="Inter"/>
              </a:rPr>
              <a:t> 별 </a:t>
            </a:r>
            <a:r>
              <a:rPr lang="en-US" sz="2700" b="1" dirty="0" err="1">
                <a:latin typeface="Inter"/>
                <a:ea typeface="Inter"/>
                <a:cs typeface="Inter"/>
                <a:sym typeface="Inter"/>
              </a:rPr>
              <a:t>평균</a:t>
            </a:r>
            <a:r>
              <a:rPr lang="en-US" sz="2700" b="1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dirty="0" err="1">
                <a:latin typeface="Inter"/>
                <a:ea typeface="Inter"/>
                <a:cs typeface="Inter"/>
                <a:sym typeface="Inter"/>
              </a:rPr>
              <a:t>입력</a:t>
            </a:r>
            <a:endParaRPr dirty="0"/>
          </a:p>
        </p:txBody>
      </p:sp>
      <p:pic>
        <p:nvPicPr>
          <p:cNvPr id="418" name="Google Shape;41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513" y="1150061"/>
            <a:ext cx="9714980" cy="55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650" y="3228225"/>
            <a:ext cx="617220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0550" y="3228225"/>
            <a:ext cx="41148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3"/>
          <p:cNvSpPr txBox="1"/>
          <p:nvPr/>
        </p:nvSpPr>
        <p:spPr>
          <a:xfrm>
            <a:off x="1238250" y="571500"/>
            <a:ext cx="1070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맨해튼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거리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슬라이딩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윈도우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(Sliding Window)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적용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결과</a:t>
            </a:r>
            <a:endParaRPr dirty="0"/>
          </a:p>
        </p:txBody>
      </p:sp>
      <p:pic>
        <p:nvPicPr>
          <p:cNvPr id="426" name="Google Shape;426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22710"/>
            <a:ext cx="3333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3"/>
          <p:cNvSpPr txBox="1"/>
          <p:nvPr/>
        </p:nvSpPr>
        <p:spPr>
          <a:xfrm>
            <a:off x="1242425" y="3466350"/>
            <a:ext cx="572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윈도우</a:t>
            </a:r>
            <a:r>
              <a:rPr lang="en-US" sz="13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크기</a:t>
            </a:r>
            <a:r>
              <a:rPr lang="en-US" sz="13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(Window Size)별 </a:t>
            </a:r>
            <a:r>
              <a:rPr lang="en-US" sz="13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전체</a:t>
            </a:r>
            <a:r>
              <a:rPr lang="en-US" sz="13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평균</a:t>
            </a:r>
            <a:r>
              <a:rPr lang="en-US" sz="13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EER </a:t>
            </a:r>
            <a:endParaRPr dirty="0"/>
          </a:p>
        </p:txBody>
      </p:sp>
      <p:sp>
        <p:nvSpPr>
          <p:cNvPr id="428" name="Google Shape;428;p33"/>
          <p:cNvSpPr txBox="1"/>
          <p:nvPr/>
        </p:nvSpPr>
        <p:spPr>
          <a:xfrm>
            <a:off x="7777750" y="3542550"/>
            <a:ext cx="3580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최적의</a:t>
            </a:r>
            <a:r>
              <a:rPr lang="en-US" sz="13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크기</a:t>
            </a:r>
            <a:r>
              <a:rPr lang="en-US" sz="13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'3' </a:t>
            </a:r>
            <a:r>
              <a:rPr lang="en-US" sz="13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결정</a:t>
            </a:r>
            <a:r>
              <a:rPr lang="en-US" sz="13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사유</a:t>
            </a:r>
            <a:endParaRPr dirty="0"/>
          </a:p>
        </p:txBody>
      </p:sp>
      <p:pic>
        <p:nvPicPr>
          <p:cNvPr id="429" name="Google Shape;429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4775" y="34949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3"/>
          <p:cNvSpPr txBox="1"/>
          <p:nvPr/>
        </p:nvSpPr>
        <p:spPr>
          <a:xfrm>
            <a:off x="994775" y="3837825"/>
            <a:ext cx="56961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Window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크기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1  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➔ </a:t>
            </a:r>
            <a:r>
              <a:rPr lang="en-US" sz="12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EER: 9.24%</a:t>
            </a:r>
            <a:endParaRPr sz="1500" dirty="0"/>
          </a:p>
        </p:txBody>
      </p:sp>
      <p:sp>
        <p:nvSpPr>
          <p:cNvPr id="431" name="Google Shape;431;p33"/>
          <p:cNvSpPr txBox="1"/>
          <p:nvPr/>
        </p:nvSpPr>
        <p:spPr>
          <a:xfrm>
            <a:off x="994775" y="4171200"/>
            <a:ext cx="56961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Window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크기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2 ➔ EER: 7.79%</a:t>
            </a:r>
            <a:endParaRPr sz="1500" dirty="0"/>
          </a:p>
        </p:txBody>
      </p:sp>
      <p:sp>
        <p:nvSpPr>
          <p:cNvPr id="432" name="Google Shape;432;p33"/>
          <p:cNvSpPr txBox="1"/>
          <p:nvPr/>
        </p:nvSpPr>
        <p:spPr>
          <a:xfrm>
            <a:off x="994775" y="4504575"/>
            <a:ext cx="56961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5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• Window </a:t>
            </a:r>
            <a:r>
              <a:rPr lang="en-US" sz="1225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크기</a:t>
            </a:r>
            <a:r>
              <a:rPr lang="en-US" sz="1225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3 ➔ EER: 7.65%</a:t>
            </a:r>
            <a:endParaRPr sz="1500" dirty="0"/>
          </a:p>
        </p:txBody>
      </p:sp>
      <p:sp>
        <p:nvSpPr>
          <p:cNvPr id="433" name="Google Shape;433;p33"/>
          <p:cNvSpPr txBox="1"/>
          <p:nvPr/>
        </p:nvSpPr>
        <p:spPr>
          <a:xfrm>
            <a:off x="994788" y="4849450"/>
            <a:ext cx="56961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Window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크기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4 ➔ EER: 7.63%</a:t>
            </a:r>
            <a:endParaRPr sz="1500" dirty="0"/>
          </a:p>
        </p:txBody>
      </p:sp>
      <p:sp>
        <p:nvSpPr>
          <p:cNvPr id="434" name="Google Shape;434;p33"/>
          <p:cNvSpPr txBox="1"/>
          <p:nvPr/>
        </p:nvSpPr>
        <p:spPr>
          <a:xfrm>
            <a:off x="994775" y="5171325"/>
            <a:ext cx="56961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Window </a:t>
            </a:r>
            <a:r>
              <a:rPr lang="en-US" sz="1225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크기</a:t>
            </a:r>
            <a:r>
              <a:rPr lang="en-US" sz="1225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5 ➔ EER: 7.70%</a:t>
            </a:r>
            <a:endParaRPr sz="1500" dirty="0"/>
          </a:p>
        </p:txBody>
      </p:sp>
      <p:pic>
        <p:nvPicPr>
          <p:cNvPr id="435" name="Google Shape;435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68200" y="3571125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3"/>
          <p:cNvSpPr txBox="1"/>
          <p:nvPr/>
        </p:nvSpPr>
        <p:spPr>
          <a:xfrm>
            <a:off x="7473550" y="3980700"/>
            <a:ext cx="37143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238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02E"/>
              </a:buClr>
              <a:buSzPts val="1200"/>
              <a:buFont typeface="Wingdings" panose="05000000000000000000" pitchFamily="2" charset="2"/>
              <a:buChar char="§"/>
            </a:pPr>
            <a:r>
              <a:rPr lang="en-US" sz="12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성능의</a:t>
            </a:r>
            <a:r>
              <a:rPr lang="en-US" sz="12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수렴</a:t>
            </a:r>
            <a:r>
              <a:rPr lang="en-US" sz="12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크기를</a:t>
            </a:r>
            <a:r>
              <a:rPr lang="en-US" sz="12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4로 </a:t>
            </a:r>
            <a:r>
              <a:rPr lang="en-US" sz="12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늘려도</a:t>
            </a:r>
            <a:r>
              <a:rPr lang="en-US" sz="12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EER </a:t>
            </a:r>
            <a:r>
              <a:rPr lang="en-US" sz="12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개선폭은</a:t>
            </a:r>
            <a:r>
              <a:rPr lang="en-US" sz="12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단 0.02%로 </a:t>
            </a:r>
            <a:r>
              <a:rPr lang="en-US" sz="12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미미함</a:t>
            </a:r>
            <a:endParaRPr sz="1200" b="0" i="0" u="none" strike="noStrike" cap="none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238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02E"/>
              </a:buClr>
              <a:buSzPts val="1200"/>
              <a:buFont typeface="Wingdings" panose="05000000000000000000" pitchFamily="2" charset="2"/>
              <a:buChar char="§"/>
            </a:pPr>
            <a:r>
              <a:rPr lang="en-US" sz="120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20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효율성</a:t>
            </a:r>
            <a:r>
              <a:rPr lang="en-US" sz="120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극대화</a:t>
            </a:r>
            <a:r>
              <a:rPr lang="en-US" sz="120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적은</a:t>
            </a:r>
            <a:r>
              <a:rPr lang="en-US" sz="12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타건</a:t>
            </a:r>
            <a:r>
              <a:rPr lang="en-US" sz="12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2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적재량만으로도</a:t>
            </a:r>
            <a:r>
              <a:rPr lang="en-US" sz="12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최상위권</a:t>
            </a:r>
            <a:r>
              <a:rPr lang="en-US" sz="120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보안</a:t>
            </a:r>
            <a:r>
              <a:rPr lang="en-US" sz="120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r>
              <a:rPr lang="en-US" sz="120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(7.65%)</a:t>
            </a:r>
            <a:r>
              <a:rPr lang="en-US" sz="12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을 </a:t>
            </a:r>
            <a:r>
              <a:rPr lang="en-US" sz="120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확보할</a:t>
            </a:r>
            <a:r>
              <a:rPr lang="en-US" sz="12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수 </a:t>
            </a:r>
            <a:r>
              <a:rPr lang="en-US" sz="120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있는</a:t>
            </a:r>
            <a:r>
              <a:rPr lang="en-US" sz="12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균형점</a:t>
            </a:r>
            <a:r>
              <a:rPr lang="en-US" sz="12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확인</a:t>
            </a:r>
            <a:endParaRPr sz="1200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7" name="Google Shape;437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1908025"/>
            <a:ext cx="10678699" cy="66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3"/>
          <p:cNvSpPr txBox="1"/>
          <p:nvPr/>
        </p:nvSpPr>
        <p:spPr>
          <a:xfrm>
            <a:off x="1000125" y="2146138"/>
            <a:ext cx="10191900" cy="2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LOSO / LOO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평가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방식의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문제점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시간의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흐름상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나중에</a:t>
            </a:r>
            <a:r>
              <a:rPr lang="en-US" sz="132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입력한</a:t>
            </a:r>
            <a:r>
              <a:rPr lang="en-US" sz="132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데이터를</a:t>
            </a:r>
            <a:r>
              <a:rPr lang="en-US" sz="132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학습</a:t>
            </a:r>
            <a:r>
              <a:rPr lang="en-US" sz="132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데이터로</a:t>
            </a:r>
            <a:r>
              <a:rPr lang="en-US" sz="1325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25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</a:t>
            </a:r>
            <a:r>
              <a:rPr lang="en-US" sz="1325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371600"/>
            <a:ext cx="5143500" cy="2341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941266"/>
            <a:ext cx="5143500" cy="2659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371600"/>
            <a:ext cx="5143500" cy="387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8225" y="5593475"/>
            <a:ext cx="45910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4"/>
          <p:cNvSpPr txBox="1"/>
          <p:nvPr/>
        </p:nvSpPr>
        <p:spPr>
          <a:xfrm>
            <a:off x="1295400" y="571500"/>
            <a:ext cx="1064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알고리즘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실제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구현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피처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개수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정규화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동적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임계값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최적화</a:t>
            </a:r>
            <a:endParaRPr dirty="0"/>
          </a:p>
        </p:txBody>
      </p:sp>
      <p:pic>
        <p:nvPicPr>
          <p:cNvPr id="448" name="Google Shape;448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601305"/>
            <a:ext cx="4191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4"/>
          <p:cNvSpPr txBox="1"/>
          <p:nvPr/>
        </p:nvSpPr>
        <p:spPr>
          <a:xfrm>
            <a:off x="1323975" y="1647825"/>
            <a:ext cx="45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피처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개수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나누기</a:t>
            </a:r>
            <a:endParaRPr dirty="0"/>
          </a:p>
        </p:txBody>
      </p:sp>
      <p:sp>
        <p:nvSpPr>
          <p:cNvPr id="450" name="Google Shape;450;p34"/>
          <p:cNvSpPr txBox="1"/>
          <p:nvPr/>
        </p:nvSpPr>
        <p:spPr>
          <a:xfrm>
            <a:off x="1038225" y="2019300"/>
            <a:ext cx="4591200" cy="10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역할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입력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비밀번호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길이에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따른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거리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왜곡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방지</a:t>
            </a:r>
            <a:br>
              <a:rPr lang="en-US" sz="1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이유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맨해튼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거리는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오차의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단순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합산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연산이므로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글자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수가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많을수록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총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거리가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무조건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커지는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모순이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발생함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(예: 8글자는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피처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22개, 15글자는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피처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43개)</a:t>
            </a:r>
            <a:br>
              <a:rPr lang="en-US" sz="1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해결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최종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맨해튼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거리를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총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피처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개수로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나누어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ko-KR" alt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정규화</a:t>
            </a:r>
            <a:endParaRPr sz="1300" dirty="0"/>
          </a:p>
        </p:txBody>
      </p:sp>
      <p:sp>
        <p:nvSpPr>
          <p:cNvPr id="451" name="Google Shape;451;p34"/>
          <p:cNvSpPr txBox="1"/>
          <p:nvPr/>
        </p:nvSpPr>
        <p:spPr>
          <a:xfrm>
            <a:off x="1323975" y="4217491"/>
            <a:ext cx="45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k값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이용한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동적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임계값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설정</a:t>
            </a:r>
            <a:endParaRPr dirty="0"/>
          </a:p>
        </p:txBody>
      </p:sp>
      <p:sp>
        <p:nvSpPr>
          <p:cNvPr id="452" name="Google Shape;452;p34"/>
          <p:cNvSpPr txBox="1"/>
          <p:nvPr/>
        </p:nvSpPr>
        <p:spPr>
          <a:xfrm>
            <a:off x="1038225" y="4588975"/>
            <a:ext cx="4591200" cy="618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역할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사용자의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타이핑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기복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표준편차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)을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고려한</a:t>
            </a:r>
            <a:r>
              <a:rPr lang="en-US" sz="13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ko-KR" altLang="en-US" sz="130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임계값</a:t>
            </a:r>
            <a:r>
              <a:rPr lang="ko-KR" altLang="en-US" sz="130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설정</a:t>
            </a:r>
            <a:br>
              <a:rPr lang="en-US" sz="1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3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방법</a:t>
            </a:r>
            <a:r>
              <a:rPr lang="en-US" sz="13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정제되어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나온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최종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거리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값들의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분포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평균과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표준편차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)를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활용하여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상한선</a:t>
            </a:r>
            <a:r>
              <a:rPr lang="en-US" sz="130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산출</a:t>
            </a:r>
            <a:endParaRPr sz="1300" dirty="0"/>
          </a:p>
        </p:txBody>
      </p:sp>
      <p:sp>
        <p:nvSpPr>
          <p:cNvPr id="453" name="Google Shape;453;p34"/>
          <p:cNvSpPr txBox="1"/>
          <p:nvPr/>
        </p:nvSpPr>
        <p:spPr>
          <a:xfrm>
            <a:off x="6829425" y="1647825"/>
            <a:ext cx="454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윈도우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크기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3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고정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시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k값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변화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실험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결과</a:t>
            </a:r>
            <a:endParaRPr dirty="0"/>
          </a:p>
        </p:txBody>
      </p:sp>
      <p:graphicFrame>
        <p:nvGraphicFramePr>
          <p:cNvPr id="454" name="Google Shape;454;p34"/>
          <p:cNvGraphicFramePr/>
          <p:nvPr>
            <p:extLst>
              <p:ext uri="{D42A27DB-BD31-4B8C-83A1-F6EECF244321}">
                <p14:modId xmlns:p14="http://schemas.microsoft.com/office/powerpoint/2010/main" val="1038022871"/>
              </p:ext>
            </p:extLst>
          </p:nvPr>
        </p:nvGraphicFramePr>
        <p:xfrm>
          <a:off x="6562725" y="2190750"/>
          <a:ext cx="4591050" cy="2628900"/>
        </p:xfrm>
        <a:graphic>
          <a:graphicData uri="http://schemas.openxmlformats.org/drawingml/2006/table">
            <a:tbl>
              <a:tblPr firstRow="1" bandRow="1">
                <a:noFill/>
                <a:tableStyleId>{B6E0D2BD-2155-4C02-B294-2F15D94BEF02}</a:tableStyleId>
              </a:tblPr>
              <a:tblGrid>
                <a:gridCol w="1041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파라미터 조건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 dirty="0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FRR (</a:t>
                      </a:r>
                      <a:r>
                        <a:rPr lang="en-US" sz="1225" b="0" i="0" u="none" strike="noStrike" cap="none" dirty="0" err="1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오거부</a:t>
                      </a:r>
                      <a:r>
                        <a:rPr lang="en-US" sz="1225" b="0" i="0" u="none" strike="noStrike" cap="none" dirty="0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)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 dirty="0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FAR (</a:t>
                      </a:r>
                      <a:r>
                        <a:rPr lang="en-US" sz="1225" b="0" i="0" u="none" strike="noStrike" cap="none" dirty="0" err="1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오인식</a:t>
                      </a:r>
                      <a:r>
                        <a:rPr lang="en-US" sz="1225" b="0" i="0" u="none" strike="noStrike" cap="none" dirty="0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)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비고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 = 2 적용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6.49%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11.67%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k = 3 </a:t>
                      </a:r>
                      <a:r>
                        <a:rPr lang="en-US" sz="1225" b="1" i="0" u="none" strike="noStrike" cap="none" dirty="0" err="1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적용</a:t>
                      </a:r>
                      <a:endParaRPr sz="15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 dirty="0">
                          <a:solidFill>
                            <a:srgbClr val="0075D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3.13%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22.32%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1" i="0" u="none" strike="noStrike" cap="none" dirty="0" err="1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최종</a:t>
                      </a:r>
                      <a:r>
                        <a:rPr lang="en-US" sz="122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</a:t>
                      </a:r>
                      <a:r>
                        <a:rPr lang="en-US" sz="1225" b="1" i="0" u="none" strike="noStrike" cap="none" dirty="0" err="1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선정</a:t>
                      </a:r>
                      <a:r>
                        <a:rPr lang="en-US" sz="122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</a:t>
                      </a:r>
                      <a:endParaRPr sz="15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 = 4 적용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1.68%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32.63%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55" name="Google Shape;455;p3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8225" y="16811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8225" y="425082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4"/>
          <p:cNvSpPr txBox="1"/>
          <p:nvPr/>
        </p:nvSpPr>
        <p:spPr>
          <a:xfrm>
            <a:off x="1219200" y="5774450"/>
            <a:ext cx="4229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임계치</a:t>
            </a:r>
            <a:r>
              <a:rPr lang="en-US" sz="16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= </a:t>
            </a:r>
            <a:r>
              <a:rPr lang="en-US" sz="16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평균</a:t>
            </a:r>
            <a:r>
              <a:rPr lang="en-US" sz="16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+ (k × </a:t>
            </a:r>
            <a:r>
              <a:rPr lang="en-US" sz="16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표준편차</a:t>
            </a:r>
            <a:r>
              <a:rPr lang="en-US" sz="16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dirty="0"/>
          </a:p>
        </p:txBody>
      </p:sp>
      <p:pic>
        <p:nvPicPr>
          <p:cNvPr id="458" name="Google Shape;458;p3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62725" y="168116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4"/>
          <p:cNvSpPr/>
          <p:nvPr/>
        </p:nvSpPr>
        <p:spPr>
          <a:xfrm>
            <a:off x="6562725" y="2833687"/>
            <a:ext cx="900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4"/>
          <p:cNvSpPr/>
          <p:nvPr/>
        </p:nvSpPr>
        <p:spPr>
          <a:xfrm>
            <a:off x="7463135" y="2833687"/>
            <a:ext cx="1384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4"/>
          <p:cNvSpPr/>
          <p:nvPr/>
        </p:nvSpPr>
        <p:spPr>
          <a:xfrm>
            <a:off x="8847832" y="2833687"/>
            <a:ext cx="1426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4"/>
          <p:cNvSpPr/>
          <p:nvPr/>
        </p:nvSpPr>
        <p:spPr>
          <a:xfrm>
            <a:off x="10274349" y="2833687"/>
            <a:ext cx="879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4"/>
          <p:cNvSpPr/>
          <p:nvPr/>
        </p:nvSpPr>
        <p:spPr>
          <a:xfrm>
            <a:off x="6562725" y="3490912"/>
            <a:ext cx="900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4"/>
          <p:cNvSpPr/>
          <p:nvPr/>
        </p:nvSpPr>
        <p:spPr>
          <a:xfrm>
            <a:off x="7463135" y="3490912"/>
            <a:ext cx="1384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4"/>
          <p:cNvSpPr/>
          <p:nvPr/>
        </p:nvSpPr>
        <p:spPr>
          <a:xfrm>
            <a:off x="8847832" y="3490912"/>
            <a:ext cx="1426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10274349" y="3490912"/>
            <a:ext cx="879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6562725" y="4148137"/>
            <a:ext cx="900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7463135" y="4148137"/>
            <a:ext cx="1384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4"/>
          <p:cNvSpPr/>
          <p:nvPr/>
        </p:nvSpPr>
        <p:spPr>
          <a:xfrm>
            <a:off x="8847832" y="4148137"/>
            <a:ext cx="1426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4"/>
          <p:cNvSpPr/>
          <p:nvPr/>
        </p:nvSpPr>
        <p:spPr>
          <a:xfrm>
            <a:off x="10274349" y="4148137"/>
            <a:ext cx="879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4"/>
          <p:cNvSpPr/>
          <p:nvPr/>
        </p:nvSpPr>
        <p:spPr>
          <a:xfrm>
            <a:off x="6562725" y="4805362"/>
            <a:ext cx="900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4"/>
          <p:cNvSpPr/>
          <p:nvPr/>
        </p:nvSpPr>
        <p:spPr>
          <a:xfrm>
            <a:off x="7463135" y="4805362"/>
            <a:ext cx="1384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4"/>
          <p:cNvSpPr/>
          <p:nvPr/>
        </p:nvSpPr>
        <p:spPr>
          <a:xfrm>
            <a:off x="8847832" y="4805362"/>
            <a:ext cx="1426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4"/>
          <p:cNvSpPr/>
          <p:nvPr/>
        </p:nvSpPr>
        <p:spPr>
          <a:xfrm>
            <a:off x="10274349" y="4805362"/>
            <a:ext cx="879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02E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5"/>
          <p:cNvSpPr txBox="1"/>
          <p:nvPr/>
        </p:nvSpPr>
        <p:spPr>
          <a:xfrm>
            <a:off x="762000" y="2193726"/>
            <a:ext cx="8572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PART </a:t>
            </a:r>
            <a:r>
              <a:rPr lang="en-US" sz="135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/>
          </a:p>
        </p:txBody>
      </p:sp>
      <p:sp>
        <p:nvSpPr>
          <p:cNvPr id="480" name="Google Shape;480;p35"/>
          <p:cNvSpPr txBox="1"/>
          <p:nvPr/>
        </p:nvSpPr>
        <p:spPr>
          <a:xfrm>
            <a:off x="762000" y="2536626"/>
            <a:ext cx="90012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RBA</a:t>
            </a:r>
            <a:r>
              <a:rPr lang="en-US" sz="4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2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2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사용자</a:t>
            </a:r>
            <a:r>
              <a:rPr lang="en-US" sz="4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2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인증</a:t>
            </a:r>
            <a:r>
              <a:rPr lang="en-US" sz="4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2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시스템</a:t>
            </a:r>
            <a:r>
              <a:rPr lang="en-US" sz="4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2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구현</a:t>
            </a:r>
            <a:endParaRPr dirty="0"/>
          </a:p>
        </p:txBody>
      </p:sp>
      <p:sp>
        <p:nvSpPr>
          <p:cNvPr id="481" name="Google Shape;481;p35"/>
          <p:cNvSpPr/>
          <p:nvPr/>
        </p:nvSpPr>
        <p:spPr>
          <a:xfrm>
            <a:off x="762000" y="4054673"/>
            <a:ext cx="762000" cy="38100"/>
          </a:xfrm>
          <a:prstGeom prst="rect">
            <a:avLst/>
          </a:prstGeom>
          <a:solidFill>
            <a:srgbClr val="0075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5"/>
          <p:cNvSpPr txBox="1"/>
          <p:nvPr/>
        </p:nvSpPr>
        <p:spPr>
          <a:xfrm>
            <a:off x="762000" y="4378523"/>
            <a:ext cx="857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lt1"/>
                </a:solidFill>
              </a:rPr>
              <a:t>초기</a:t>
            </a:r>
            <a:r>
              <a:rPr lang="en-US" dirty="0">
                <a:solidFill>
                  <a:schemeClr val="lt1"/>
                </a:solidFill>
              </a:rPr>
              <a:t> </a:t>
            </a:r>
            <a:r>
              <a:rPr lang="en-US" dirty="0" err="1">
                <a:solidFill>
                  <a:schemeClr val="lt1"/>
                </a:solidFill>
              </a:rPr>
              <a:t>실험</a:t>
            </a:r>
            <a:r>
              <a:rPr lang="en-US" dirty="0">
                <a:solidFill>
                  <a:schemeClr val="lt1"/>
                </a:solidFill>
              </a:rPr>
              <a:t> , </a:t>
            </a:r>
            <a:r>
              <a:rPr lang="en-US" dirty="0" err="1">
                <a:solidFill>
                  <a:schemeClr val="lt1"/>
                </a:solidFill>
              </a:rPr>
              <a:t>발전</a:t>
            </a:r>
            <a:r>
              <a:rPr lang="en-US" dirty="0">
                <a:solidFill>
                  <a:schemeClr val="lt1"/>
                </a:solidFill>
              </a:rPr>
              <a:t> </a:t>
            </a:r>
            <a:r>
              <a:rPr lang="en-US" dirty="0" err="1">
                <a:solidFill>
                  <a:schemeClr val="lt1"/>
                </a:solidFill>
              </a:rPr>
              <a:t>과정</a:t>
            </a:r>
            <a:r>
              <a:rPr lang="en-US" dirty="0">
                <a:solidFill>
                  <a:schemeClr val="lt1"/>
                </a:solidFill>
              </a:rPr>
              <a:t>, </a:t>
            </a:r>
            <a:r>
              <a:rPr lang="en-US" dirty="0" err="1">
                <a:solidFill>
                  <a:schemeClr val="lt1"/>
                </a:solidFill>
              </a:rPr>
              <a:t>구현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37446"/>
            <a:ext cx="5381625" cy="140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2237446"/>
            <a:ext cx="5381625" cy="140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81437"/>
            <a:ext cx="5381625" cy="135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3881437"/>
            <a:ext cx="5381625" cy="135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7"/>
          <p:cNvSpPr txBox="1"/>
          <p:nvPr/>
        </p:nvSpPr>
        <p:spPr>
          <a:xfrm>
            <a:off x="923925" y="476250"/>
            <a:ext cx="11231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모델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평가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지표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개요</a:t>
            </a:r>
            <a:endParaRPr dirty="0"/>
          </a:p>
        </p:txBody>
      </p:sp>
      <p:pic>
        <p:nvPicPr>
          <p:cNvPr id="518" name="Google Shape;518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3400"/>
            <a:ext cx="23812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7"/>
          <p:cNvSpPr txBox="1"/>
          <p:nvPr/>
        </p:nvSpPr>
        <p:spPr>
          <a:xfrm>
            <a:off x="1019175" y="2416067"/>
            <a:ext cx="497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정확도</a:t>
            </a:r>
            <a:r>
              <a:rPr lang="en-US" sz="13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(Accuracy)</a:t>
            </a:r>
            <a:endParaRPr dirty="0"/>
          </a:p>
        </p:txBody>
      </p:sp>
      <p:sp>
        <p:nvSpPr>
          <p:cNvPr id="520" name="Google Shape;520;p37"/>
          <p:cNvSpPr txBox="1"/>
          <p:nvPr/>
        </p:nvSpPr>
        <p:spPr>
          <a:xfrm>
            <a:off x="771525" y="2720867"/>
            <a:ext cx="49815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모델이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전체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탐지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시도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정상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접속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공격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접속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전체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중에서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실제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정답을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올바르게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맞춘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클래스의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비율입니다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탐지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모델의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전반적인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정량적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성능을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보여줍니다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 dirty="0"/>
          </a:p>
        </p:txBody>
      </p:sp>
      <p:sp>
        <p:nvSpPr>
          <p:cNvPr id="521" name="Google Shape;521;p37"/>
          <p:cNvSpPr txBox="1"/>
          <p:nvPr/>
        </p:nvSpPr>
        <p:spPr>
          <a:xfrm>
            <a:off x="6686550" y="2416067"/>
            <a:ext cx="497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2A9D99"/>
                </a:solidFill>
                <a:latin typeface="Inter"/>
                <a:ea typeface="Inter"/>
                <a:cs typeface="Inter"/>
                <a:sym typeface="Inter"/>
              </a:rPr>
              <a:t>정밀도</a:t>
            </a:r>
            <a:r>
              <a:rPr lang="en-US" sz="1350" b="1" i="0" u="none" strike="noStrike" cap="none" dirty="0">
                <a:solidFill>
                  <a:srgbClr val="2A9D99"/>
                </a:solidFill>
                <a:latin typeface="Inter"/>
                <a:ea typeface="Inter"/>
                <a:cs typeface="Inter"/>
                <a:sym typeface="Inter"/>
              </a:rPr>
              <a:t> (Precision)</a:t>
            </a:r>
            <a:endParaRPr dirty="0"/>
          </a:p>
        </p:txBody>
      </p:sp>
      <p:sp>
        <p:nvSpPr>
          <p:cNvPr id="522" name="Google Shape;522;p37"/>
          <p:cNvSpPr txBox="1"/>
          <p:nvPr/>
        </p:nvSpPr>
        <p:spPr>
          <a:xfrm>
            <a:off x="6438900" y="2710164"/>
            <a:ext cx="4981500" cy="79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모델이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공격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또는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정상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이라고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판단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하여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예측한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기록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중,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실제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사실로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밝혀진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탐지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건수의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비율입니다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정상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사용자를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공격자로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오인하는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과잉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차단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과탐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)을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제어하는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지표입니다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 dirty="0"/>
          </a:p>
        </p:txBody>
      </p:sp>
      <p:sp>
        <p:nvSpPr>
          <p:cNvPr id="523" name="Google Shape;523;p37"/>
          <p:cNvSpPr txBox="1"/>
          <p:nvPr/>
        </p:nvSpPr>
        <p:spPr>
          <a:xfrm>
            <a:off x="1019175" y="4038653"/>
            <a:ext cx="497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재현율</a:t>
            </a:r>
            <a:r>
              <a:rPr lang="en-US" sz="1350" b="1" i="0" u="none" strike="noStrike" cap="none" dirty="0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 (Recall)</a:t>
            </a:r>
            <a:endParaRPr dirty="0"/>
          </a:p>
        </p:txBody>
      </p:sp>
      <p:sp>
        <p:nvSpPr>
          <p:cNvPr id="524" name="Google Shape;524;p37"/>
          <p:cNvSpPr txBox="1"/>
          <p:nvPr/>
        </p:nvSpPr>
        <p:spPr>
          <a:xfrm>
            <a:off x="771525" y="4343453"/>
            <a:ext cx="4981500" cy="79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실제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발생한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전체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공격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또는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정상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시도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중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모델이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놓치지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않고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올바르게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찾아내어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차단한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비율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입니다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실제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위협을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인지하지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못하고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통과시키는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미탐을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차단하는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지표입니다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 dirty="0"/>
          </a:p>
        </p:txBody>
      </p:sp>
      <p:sp>
        <p:nvSpPr>
          <p:cNvPr id="525" name="Google Shape;525;p37"/>
          <p:cNvSpPr txBox="1"/>
          <p:nvPr/>
        </p:nvSpPr>
        <p:spPr>
          <a:xfrm>
            <a:off x="6734175" y="4038653"/>
            <a:ext cx="4920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F1-Score</a:t>
            </a:r>
            <a:endParaRPr dirty="0"/>
          </a:p>
        </p:txBody>
      </p:sp>
      <p:sp>
        <p:nvSpPr>
          <p:cNvPr id="526" name="Google Shape;526;p37"/>
          <p:cNvSpPr txBox="1"/>
          <p:nvPr/>
        </p:nvSpPr>
        <p:spPr>
          <a:xfrm>
            <a:off x="6438900" y="4314878"/>
            <a:ext cx="4981500" cy="79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정밀도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(Precision)와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재현율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(Recall)의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불균형을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보완하기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위해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두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지표를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조화평균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하여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산출한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수치입니다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라벨이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불균형할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때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모델의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실질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성능을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가장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정확히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대변합니다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 dirty="0"/>
          </a:p>
        </p:txBody>
      </p:sp>
      <p:pic>
        <p:nvPicPr>
          <p:cNvPr id="527" name="Google Shape;527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44464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900" y="244464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4056526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900" y="4052941"/>
            <a:ext cx="21907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837384"/>
            <a:ext cx="110490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9576"/>
            <a:ext cx="26551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69475" y="2239575"/>
            <a:ext cx="2655075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7425" y="2239576"/>
            <a:ext cx="26551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65400" y="2239576"/>
            <a:ext cx="265510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6"/>
          <p:cNvSpPr txBox="1"/>
          <p:nvPr/>
        </p:nvSpPr>
        <p:spPr>
          <a:xfrm>
            <a:off x="1085850" y="476250"/>
            <a:ext cx="110613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가상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사용자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시나리오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설계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모델링</a:t>
            </a:r>
            <a:endParaRPr dirty="0"/>
          </a:p>
        </p:txBody>
      </p:sp>
      <p:pic>
        <p:nvPicPr>
          <p:cNvPr id="493" name="Google Shape;493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33400"/>
            <a:ext cx="4000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6"/>
          <p:cNvSpPr txBox="1"/>
          <p:nvPr/>
        </p:nvSpPr>
        <p:spPr>
          <a:xfrm>
            <a:off x="981075" y="4037409"/>
            <a:ext cx="10961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학습</a:t>
            </a:r>
            <a:r>
              <a:rPr lang="en-US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테스트</a:t>
            </a:r>
            <a:r>
              <a:rPr lang="en-US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데이터셋</a:t>
            </a:r>
            <a:r>
              <a:rPr lang="en-US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구성</a:t>
            </a:r>
            <a:r>
              <a:rPr lang="en-US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방식</a:t>
            </a:r>
            <a:endParaRPr sz="1600" dirty="0"/>
          </a:p>
        </p:txBody>
      </p:sp>
      <p:sp>
        <p:nvSpPr>
          <p:cNvPr id="495" name="Google Shape;495;p36"/>
          <p:cNvSpPr txBox="1"/>
          <p:nvPr/>
        </p:nvSpPr>
        <p:spPr>
          <a:xfrm>
            <a:off x="1019175" y="2439590"/>
            <a:ext cx="210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User A</a:t>
            </a:r>
            <a:endParaRPr dirty="0"/>
          </a:p>
        </p:txBody>
      </p:sp>
      <p:sp>
        <p:nvSpPr>
          <p:cNvPr id="496" name="Google Shape;496;p36"/>
          <p:cNvSpPr txBox="1"/>
          <p:nvPr/>
        </p:nvSpPr>
        <p:spPr>
          <a:xfrm>
            <a:off x="771525" y="2706290"/>
            <a:ext cx="22551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단일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장소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데스크탑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에서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접속하나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접속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시간대가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매우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불규칙함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동일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OS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환경에서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2가지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브라우저를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교차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사용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 dirty="0"/>
          </a:p>
        </p:txBody>
      </p:sp>
      <p:sp>
        <p:nvSpPr>
          <p:cNvPr id="497" name="Google Shape;497;p36"/>
          <p:cNvSpPr txBox="1"/>
          <p:nvPr/>
        </p:nvSpPr>
        <p:spPr>
          <a:xfrm>
            <a:off x="3798093" y="2439590"/>
            <a:ext cx="212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User B</a:t>
            </a:r>
            <a:endParaRPr/>
          </a:p>
        </p:txBody>
      </p:sp>
      <p:sp>
        <p:nvSpPr>
          <p:cNvPr id="498" name="Google Shape;498;p36"/>
          <p:cNvSpPr txBox="1"/>
          <p:nvPr/>
        </p:nvSpPr>
        <p:spPr>
          <a:xfrm>
            <a:off x="3569493" y="2706290"/>
            <a:ext cx="2255100" cy="8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5" b="0" i="0" u="none" strike="noStrike" cap="none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단일 브라우저 및 동일 OS 사용. 주중에는 회사(노트북/규칙적 시간), 주말에는 집(PC/불규칙적 시간)으로 장소가 이원화됨.</a:t>
            </a:r>
            <a:endParaRPr sz="1500"/>
          </a:p>
        </p:txBody>
      </p:sp>
      <p:sp>
        <p:nvSpPr>
          <p:cNvPr id="499" name="Google Shape;499;p36"/>
          <p:cNvSpPr txBox="1"/>
          <p:nvPr/>
        </p:nvSpPr>
        <p:spPr>
          <a:xfrm>
            <a:off x="6634162" y="2439590"/>
            <a:ext cx="208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User C</a:t>
            </a:r>
            <a:endParaRPr/>
          </a:p>
        </p:txBody>
      </p:sp>
      <p:sp>
        <p:nvSpPr>
          <p:cNvPr id="500" name="Google Shape;500;p36"/>
          <p:cNvSpPr txBox="1"/>
          <p:nvPr/>
        </p:nvSpPr>
        <p:spPr>
          <a:xfrm>
            <a:off x="6367462" y="2706290"/>
            <a:ext cx="2255100" cy="8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5" b="0" i="0" u="none" strike="noStrike" cap="none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단일 장소에서 접속하되, OS와 브라우저가 완전히 다른 2대의 노트북을 혼용. 규칙적 시간대이나 하루 내 교차 접속 발생 가능.</a:t>
            </a:r>
            <a:endParaRPr sz="1500"/>
          </a:p>
        </p:txBody>
      </p:sp>
      <p:sp>
        <p:nvSpPr>
          <p:cNvPr id="501" name="Google Shape;501;p36"/>
          <p:cNvSpPr txBox="1"/>
          <p:nvPr/>
        </p:nvSpPr>
        <p:spPr>
          <a:xfrm>
            <a:off x="9432131" y="2439590"/>
            <a:ext cx="208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User D</a:t>
            </a:r>
            <a:endParaRPr/>
          </a:p>
        </p:txBody>
      </p:sp>
      <p:sp>
        <p:nvSpPr>
          <p:cNvPr id="502" name="Google Shape;502;p36"/>
          <p:cNvSpPr txBox="1"/>
          <p:nvPr/>
        </p:nvSpPr>
        <p:spPr>
          <a:xfrm>
            <a:off x="9165431" y="2706290"/>
            <a:ext cx="22551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5" b="0" i="0" u="none" strike="noStrike" cap="none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단일 기기(노트북) 및 단일 브라우저 환경을 유지하나, 해외 출장이 잦아 접속 IP 및 국가 정보가 수시로 변동됨.</a:t>
            </a:r>
            <a:endParaRPr sz="1500"/>
          </a:p>
        </p:txBody>
      </p:sp>
      <p:pic>
        <p:nvPicPr>
          <p:cNvPr id="503" name="Google Shape;503;p3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4065984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6"/>
          <p:cNvSpPr txBox="1"/>
          <p:nvPr/>
        </p:nvSpPr>
        <p:spPr>
          <a:xfrm>
            <a:off x="771525" y="4323150"/>
            <a:ext cx="10648800" cy="79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016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02E"/>
              </a:buClr>
              <a:buSzPts val="1150"/>
              <a:buFont typeface="Wingdings" panose="05000000000000000000" pitchFamily="2" charset="2"/>
              <a:buChar char="§"/>
            </a:pP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생성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시나리오별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사용자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로그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기록을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각각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100개씩 총 400개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생성</a:t>
            </a:r>
            <a:endParaRPr sz="1150" b="0" i="0" u="none" strike="noStrike" cap="none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16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02E"/>
              </a:buClr>
              <a:buSzPts val="1150"/>
              <a:buFont typeface="Wingdings" panose="05000000000000000000" pitchFamily="2" charset="2"/>
              <a:buChar char="§"/>
            </a:pP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라벨링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(Labeling):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평가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대상이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되는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'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자신'의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기록은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정상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접속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(Normal)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자신을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제외한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타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사용자의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기록은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공격자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(Attacker)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로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정의</a:t>
            </a:r>
            <a:endParaRPr sz="1150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16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02E"/>
              </a:buClr>
              <a:buSzPts val="1150"/>
              <a:buFont typeface="Wingdings" panose="05000000000000000000" pitchFamily="2" charset="2"/>
              <a:buChar char="§"/>
            </a:pP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분할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(Split):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각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사용자별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전체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중 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80%를 </a:t>
            </a: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학습용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(Train)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20%를 </a:t>
            </a: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검증용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(Test)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데이터로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무작위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분할</a:t>
            </a:r>
            <a:endParaRPr sz="1150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5" name="Google Shape;505;p3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245864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569493" y="245864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67462" y="245864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165431" y="2458640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09800"/>
            <a:ext cx="5381625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209800"/>
            <a:ext cx="5381625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8"/>
          <p:cNvSpPr txBox="1"/>
          <p:nvPr/>
        </p:nvSpPr>
        <p:spPr>
          <a:xfrm>
            <a:off x="1000125" y="476250"/>
            <a:ext cx="111513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가상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1차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실험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결과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한계점</a:t>
            </a:r>
            <a:endParaRPr dirty="0"/>
          </a:p>
        </p:txBody>
      </p:sp>
      <p:pic>
        <p:nvPicPr>
          <p:cNvPr id="538" name="Google Shape;538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3400"/>
            <a:ext cx="31432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8"/>
          <p:cNvSpPr txBox="1"/>
          <p:nvPr/>
        </p:nvSpPr>
        <p:spPr>
          <a:xfrm>
            <a:off x="1000125" y="2409825"/>
            <a:ext cx="49905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KNN / Random Forest </a:t>
            </a:r>
            <a:r>
              <a:rPr lang="en-US" sz="1300" b="0" i="0" u="none" strike="noStrike" cap="none" dirty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평가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300" b="0" i="0" u="none" strike="noStrike" cap="none" dirty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결과</a:t>
            </a:r>
            <a:endParaRPr sz="1500" dirty="0"/>
          </a:p>
        </p:txBody>
      </p:sp>
      <p:sp>
        <p:nvSpPr>
          <p:cNvPr id="540" name="Google Shape;540;p38"/>
          <p:cNvSpPr txBox="1"/>
          <p:nvPr/>
        </p:nvSpPr>
        <p:spPr>
          <a:xfrm>
            <a:off x="771525" y="2695575"/>
            <a:ext cx="49815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가상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시나리오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데이터셋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반영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결과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(두 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모델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동일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500" dirty="0"/>
          </a:p>
        </p:txBody>
      </p:sp>
      <p:sp>
        <p:nvSpPr>
          <p:cNvPr id="541" name="Google Shape;541;p38"/>
          <p:cNvSpPr/>
          <p:nvPr/>
        </p:nvSpPr>
        <p:spPr>
          <a:xfrm>
            <a:off x="771525" y="2971800"/>
            <a:ext cx="4981500" cy="2152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2" name="Google Shape;542;p38"/>
          <p:cNvGraphicFramePr/>
          <p:nvPr>
            <p:extLst>
              <p:ext uri="{D42A27DB-BD31-4B8C-83A1-F6EECF244321}">
                <p14:modId xmlns:p14="http://schemas.microsoft.com/office/powerpoint/2010/main" val="1735286956"/>
              </p:ext>
            </p:extLst>
          </p:nvPr>
        </p:nvGraphicFramePr>
        <p:xfrm>
          <a:off x="771525" y="2971800"/>
          <a:ext cx="4981550" cy="2152650"/>
        </p:xfrm>
        <a:graphic>
          <a:graphicData uri="http://schemas.openxmlformats.org/drawingml/2006/table">
            <a:tbl>
              <a:tblPr firstRow="1" bandRow="1">
                <a:noFill/>
                <a:tableStyleId>{B6E0D2BD-2155-4C02-B294-2F15D94BEF02}</a:tableStyleId>
              </a:tblPr>
              <a:tblGrid>
                <a:gridCol w="114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대상 사용자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Accuracy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Precision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Recall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F1-Score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A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B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C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D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 err="1">
                          <a:solidFill>
                            <a:srgbClr val="C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전체</a:t>
                      </a:r>
                      <a:r>
                        <a:rPr lang="en-US" sz="1175" b="1" i="0" u="none" strike="noStrike" cap="none" dirty="0">
                          <a:solidFill>
                            <a:srgbClr val="C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</a:t>
                      </a:r>
                      <a:r>
                        <a:rPr lang="en-US" sz="1175" b="1" i="0" u="none" strike="noStrike" cap="none" dirty="0" err="1">
                          <a:solidFill>
                            <a:srgbClr val="C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평균</a:t>
                      </a:r>
                      <a:endParaRPr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C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1.0</a:t>
                      </a:r>
                      <a:endParaRPr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C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1.0</a:t>
                      </a:r>
                      <a:endParaRPr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C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1.0</a:t>
                      </a:r>
                      <a:endParaRPr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C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1.0</a:t>
                      </a:r>
                      <a:endParaRPr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3" name="Google Shape;543;p38"/>
          <p:cNvSpPr txBox="1"/>
          <p:nvPr/>
        </p:nvSpPr>
        <p:spPr>
          <a:xfrm>
            <a:off x="6715125" y="2914054"/>
            <a:ext cx="4940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 err="1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초기</a:t>
            </a:r>
            <a:r>
              <a:rPr lang="en-US" sz="1450" b="1" i="0" u="none" strike="noStrike" cap="none" dirty="0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실험의</a:t>
            </a:r>
            <a:r>
              <a:rPr lang="en-US" sz="1450" b="1" i="0" u="none" strike="noStrike" cap="none" dirty="0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치명적</a:t>
            </a:r>
            <a:r>
              <a:rPr lang="en-US" sz="1450" b="1" i="0" u="none" strike="noStrike" cap="none" dirty="0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한계</a:t>
            </a:r>
            <a:endParaRPr sz="1500" dirty="0"/>
          </a:p>
        </p:txBody>
      </p:sp>
      <p:sp>
        <p:nvSpPr>
          <p:cNvPr id="544" name="Google Shape;544;p38"/>
          <p:cNvSpPr txBox="1"/>
          <p:nvPr/>
        </p:nvSpPr>
        <p:spPr>
          <a:xfrm>
            <a:off x="6467475" y="3295054"/>
            <a:ext cx="4953000" cy="1259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가상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시나리오를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바탕으로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임의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생성한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데이터가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지나치게</a:t>
            </a:r>
            <a:r>
              <a:rPr lang="en-US" sz="1287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정형화</a:t>
            </a:r>
            <a:r>
              <a:rPr lang="en-US" sz="1287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(Ideal)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되어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있어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통계적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유의미성과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변별력을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상실하는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문제점이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발생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모든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평가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지표가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1.0 (100%)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으로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과도하게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수렴함에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따라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모델의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세부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튜닝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실제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환경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검증이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불가능하다고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판단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실제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상용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웹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서비스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기반의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대규모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합성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데이터셋을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대체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도입하기로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87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결정하였습니다</a:t>
            </a:r>
            <a:r>
              <a:rPr lang="en-US" sz="1287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pic>
        <p:nvPicPr>
          <p:cNvPr id="545" name="Google Shape;545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4384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8"/>
          <p:cNvSpPr/>
          <p:nvPr/>
        </p:nvSpPr>
        <p:spPr>
          <a:xfrm>
            <a:off x="771525" y="3328987"/>
            <a:ext cx="1143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8"/>
          <p:cNvSpPr/>
          <p:nvPr/>
        </p:nvSpPr>
        <p:spPr>
          <a:xfrm>
            <a:off x="1914376" y="3328987"/>
            <a:ext cx="1056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8"/>
          <p:cNvSpPr/>
          <p:nvPr/>
        </p:nvSpPr>
        <p:spPr>
          <a:xfrm>
            <a:off x="2970311" y="3328987"/>
            <a:ext cx="1018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8"/>
          <p:cNvSpPr/>
          <p:nvPr/>
        </p:nvSpPr>
        <p:spPr>
          <a:xfrm>
            <a:off x="3988891" y="3328987"/>
            <a:ext cx="757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8"/>
          <p:cNvSpPr/>
          <p:nvPr/>
        </p:nvSpPr>
        <p:spPr>
          <a:xfrm>
            <a:off x="4746575" y="3328987"/>
            <a:ext cx="1006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1" name="Google Shape;551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7475" y="294262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8"/>
          <p:cNvSpPr/>
          <p:nvPr/>
        </p:nvSpPr>
        <p:spPr>
          <a:xfrm>
            <a:off x="771525" y="3681412"/>
            <a:ext cx="1143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8"/>
          <p:cNvSpPr/>
          <p:nvPr/>
        </p:nvSpPr>
        <p:spPr>
          <a:xfrm>
            <a:off x="1914376" y="3681412"/>
            <a:ext cx="1056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8"/>
          <p:cNvSpPr/>
          <p:nvPr/>
        </p:nvSpPr>
        <p:spPr>
          <a:xfrm>
            <a:off x="2970311" y="3681412"/>
            <a:ext cx="1018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8"/>
          <p:cNvSpPr/>
          <p:nvPr/>
        </p:nvSpPr>
        <p:spPr>
          <a:xfrm>
            <a:off x="3988891" y="3681412"/>
            <a:ext cx="757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8"/>
          <p:cNvSpPr/>
          <p:nvPr/>
        </p:nvSpPr>
        <p:spPr>
          <a:xfrm>
            <a:off x="4746575" y="3681412"/>
            <a:ext cx="1006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8"/>
          <p:cNvSpPr/>
          <p:nvPr/>
        </p:nvSpPr>
        <p:spPr>
          <a:xfrm>
            <a:off x="771525" y="4033837"/>
            <a:ext cx="1143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8"/>
          <p:cNvSpPr/>
          <p:nvPr/>
        </p:nvSpPr>
        <p:spPr>
          <a:xfrm>
            <a:off x="1914376" y="4033837"/>
            <a:ext cx="1056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8"/>
          <p:cNvSpPr/>
          <p:nvPr/>
        </p:nvSpPr>
        <p:spPr>
          <a:xfrm>
            <a:off x="2970311" y="4033837"/>
            <a:ext cx="1018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8"/>
          <p:cNvSpPr/>
          <p:nvPr/>
        </p:nvSpPr>
        <p:spPr>
          <a:xfrm>
            <a:off x="3988891" y="4033837"/>
            <a:ext cx="757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8"/>
          <p:cNvSpPr/>
          <p:nvPr/>
        </p:nvSpPr>
        <p:spPr>
          <a:xfrm>
            <a:off x="4746575" y="4033837"/>
            <a:ext cx="1006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8"/>
          <p:cNvSpPr/>
          <p:nvPr/>
        </p:nvSpPr>
        <p:spPr>
          <a:xfrm>
            <a:off x="771525" y="4386262"/>
            <a:ext cx="1143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8"/>
          <p:cNvSpPr/>
          <p:nvPr/>
        </p:nvSpPr>
        <p:spPr>
          <a:xfrm>
            <a:off x="1914376" y="4386262"/>
            <a:ext cx="1056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8"/>
          <p:cNvSpPr/>
          <p:nvPr/>
        </p:nvSpPr>
        <p:spPr>
          <a:xfrm>
            <a:off x="2970311" y="4386262"/>
            <a:ext cx="1018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8"/>
          <p:cNvSpPr/>
          <p:nvPr/>
        </p:nvSpPr>
        <p:spPr>
          <a:xfrm>
            <a:off x="3988891" y="4386262"/>
            <a:ext cx="757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8"/>
          <p:cNvSpPr/>
          <p:nvPr/>
        </p:nvSpPr>
        <p:spPr>
          <a:xfrm>
            <a:off x="4746575" y="4386262"/>
            <a:ext cx="1006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8"/>
          <p:cNvSpPr/>
          <p:nvPr/>
        </p:nvSpPr>
        <p:spPr>
          <a:xfrm>
            <a:off x="771525" y="4738687"/>
            <a:ext cx="1143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8"/>
          <p:cNvSpPr/>
          <p:nvPr/>
        </p:nvSpPr>
        <p:spPr>
          <a:xfrm>
            <a:off x="1914376" y="4738687"/>
            <a:ext cx="1056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8"/>
          <p:cNvSpPr/>
          <p:nvPr/>
        </p:nvSpPr>
        <p:spPr>
          <a:xfrm>
            <a:off x="2970311" y="4738687"/>
            <a:ext cx="1018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8"/>
          <p:cNvSpPr/>
          <p:nvPr/>
        </p:nvSpPr>
        <p:spPr>
          <a:xfrm>
            <a:off x="3988891" y="4738687"/>
            <a:ext cx="757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8"/>
          <p:cNvSpPr/>
          <p:nvPr/>
        </p:nvSpPr>
        <p:spPr>
          <a:xfrm>
            <a:off x="4746575" y="4738687"/>
            <a:ext cx="1006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8"/>
          <p:cNvSpPr/>
          <p:nvPr/>
        </p:nvSpPr>
        <p:spPr>
          <a:xfrm>
            <a:off x="771525" y="5110162"/>
            <a:ext cx="1143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8"/>
          <p:cNvSpPr/>
          <p:nvPr/>
        </p:nvSpPr>
        <p:spPr>
          <a:xfrm>
            <a:off x="1914376" y="5110162"/>
            <a:ext cx="1056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8"/>
          <p:cNvSpPr/>
          <p:nvPr/>
        </p:nvSpPr>
        <p:spPr>
          <a:xfrm>
            <a:off x="2970311" y="5110162"/>
            <a:ext cx="1018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8"/>
          <p:cNvSpPr/>
          <p:nvPr/>
        </p:nvSpPr>
        <p:spPr>
          <a:xfrm>
            <a:off x="3988891" y="5110162"/>
            <a:ext cx="757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8"/>
          <p:cNvSpPr/>
          <p:nvPr/>
        </p:nvSpPr>
        <p:spPr>
          <a:xfrm>
            <a:off x="4746575" y="5110162"/>
            <a:ext cx="1006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38450"/>
            <a:ext cx="5919787" cy="2089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1937" y="2838450"/>
            <a:ext cx="4843462" cy="2089491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39"/>
          <p:cNvSpPr txBox="1"/>
          <p:nvPr/>
        </p:nvSpPr>
        <p:spPr>
          <a:xfrm>
            <a:off x="1000125" y="476250"/>
            <a:ext cx="111513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대규모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실환경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데이터셋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도입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전처리</a:t>
            </a:r>
            <a:endParaRPr dirty="0"/>
          </a:p>
        </p:txBody>
      </p:sp>
      <p:pic>
        <p:nvPicPr>
          <p:cNvPr id="584" name="Google Shape;584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3400"/>
            <a:ext cx="31432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39"/>
          <p:cNvSpPr txBox="1"/>
          <p:nvPr/>
        </p:nvSpPr>
        <p:spPr>
          <a:xfrm>
            <a:off x="981075" y="3038475"/>
            <a:ext cx="557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도입</a:t>
            </a:r>
            <a:r>
              <a:rPr lang="en-US" sz="12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데이터셋</a:t>
            </a:r>
            <a:r>
              <a:rPr lang="en-US" sz="12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원천</a:t>
            </a:r>
            <a:r>
              <a:rPr lang="en-US" sz="12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12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정제</a:t>
            </a:r>
            <a:r>
              <a:rPr lang="en-US" sz="12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방식</a:t>
            </a:r>
            <a:endParaRPr dirty="0"/>
          </a:p>
        </p:txBody>
      </p:sp>
      <p:sp>
        <p:nvSpPr>
          <p:cNvPr id="586" name="Google Shape;586;p39"/>
          <p:cNvSpPr txBox="1"/>
          <p:nvPr/>
        </p:nvSpPr>
        <p:spPr>
          <a:xfrm>
            <a:off x="7205662" y="3038475"/>
            <a:ext cx="442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데이터셋</a:t>
            </a:r>
            <a:r>
              <a:rPr lang="en-US" sz="12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구성</a:t>
            </a:r>
            <a:r>
              <a:rPr lang="en-US" sz="12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속성</a:t>
            </a:r>
            <a:r>
              <a:rPr lang="en-US" sz="120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(Features)</a:t>
            </a:r>
            <a:endParaRPr dirty="0"/>
          </a:p>
        </p:txBody>
      </p:sp>
      <p:pic>
        <p:nvPicPr>
          <p:cNvPr id="587" name="Google Shape;587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0670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9"/>
          <p:cNvSpPr txBox="1"/>
          <p:nvPr/>
        </p:nvSpPr>
        <p:spPr>
          <a:xfrm>
            <a:off x="671200" y="3324225"/>
            <a:ext cx="562020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27025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02E"/>
              </a:buClr>
              <a:buSzPts val="1150"/>
              <a:buFont typeface="Wingdings" panose="05000000000000000000" pitchFamily="2" charset="2"/>
              <a:buChar char="§"/>
            </a:pP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원천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노르웨이의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대규모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온라인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서비스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내 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3,300만 건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이상의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로그인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시도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330만 명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이상의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사용자</a:t>
            </a:r>
            <a:r>
              <a:rPr lang="en-US" sz="11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정보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를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기반으로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합성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가공된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로그인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특징</a:t>
            </a:r>
            <a:r>
              <a:rPr lang="en-US" sz="11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데이터셋</a:t>
            </a:r>
            <a:endParaRPr sz="1150" b="0" i="0" u="none" strike="noStrike" cap="none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27025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02E"/>
              </a:buClr>
              <a:buSzPts val="1150"/>
              <a:buFont typeface="Wingdings" panose="05000000000000000000" pitchFamily="2" charset="2"/>
              <a:buChar char="§"/>
            </a:pP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결측치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처리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원천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데이터에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다수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포함된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NULL값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적재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행을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전량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제거</a:t>
            </a:r>
            <a:endParaRPr sz="1500" dirty="0">
              <a:solidFill>
                <a:schemeClr val="dk1"/>
              </a:solidFill>
            </a:endParaRPr>
          </a:p>
          <a:p>
            <a:pPr marL="327025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02E"/>
              </a:buClr>
              <a:buSzPts val="1150"/>
              <a:buFont typeface="Wingdings" panose="05000000000000000000" pitchFamily="2" charset="2"/>
              <a:buChar char="§"/>
            </a:pP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표본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유저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추출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사용자</a:t>
            </a:r>
            <a:r>
              <a:rPr lang="en-US" sz="11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5명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을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추출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인당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최소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20건에서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최대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880건의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로그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보유</a:t>
            </a:r>
            <a:r>
              <a:rPr lang="en-US" sz="11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150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89" name="Google Shape;589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77062" y="30670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77048" y="3343275"/>
            <a:ext cx="450432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3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91828" y="3343275"/>
            <a:ext cx="1126081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82257" y="3343275"/>
            <a:ext cx="546954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93558" y="3343275"/>
            <a:ext cx="1372747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49400" y="4392998"/>
            <a:ext cx="750721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77048" y="3600665"/>
            <a:ext cx="589852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9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631248" y="3600665"/>
            <a:ext cx="536229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9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231825" y="3600665"/>
            <a:ext cx="353911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9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650083" y="3600665"/>
            <a:ext cx="375360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9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089791" y="3600665"/>
            <a:ext cx="1158255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9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977048" y="3858055"/>
            <a:ext cx="1683759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39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725156" y="3858055"/>
            <a:ext cx="1372747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39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982410" y="4392998"/>
            <a:ext cx="836517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9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6977048" y="4115445"/>
            <a:ext cx="1115356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39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156753" y="4115445"/>
            <a:ext cx="761445" cy="19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39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8982546" y="4115445"/>
            <a:ext cx="1297674" cy="19304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9"/>
          <p:cNvSpPr txBox="1"/>
          <p:nvPr/>
        </p:nvSpPr>
        <p:spPr>
          <a:xfrm>
            <a:off x="771525" y="4038600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90750"/>
            <a:ext cx="5381625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190750"/>
            <a:ext cx="5381625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0"/>
          <p:cNvSpPr txBox="1"/>
          <p:nvPr/>
        </p:nvSpPr>
        <p:spPr>
          <a:xfrm>
            <a:off x="962025" y="476250"/>
            <a:ext cx="111915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 err="1">
                <a:latin typeface="Inter"/>
                <a:ea typeface="Inter"/>
                <a:cs typeface="Inter"/>
                <a:sym typeface="Inter"/>
              </a:rPr>
              <a:t>대규모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데이터셋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알고리즘별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평가</a:t>
            </a:r>
            <a:r>
              <a:rPr lang="en-US" sz="25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결과</a:t>
            </a:r>
            <a:endParaRPr dirty="0"/>
          </a:p>
        </p:txBody>
      </p:sp>
      <p:pic>
        <p:nvPicPr>
          <p:cNvPr id="614" name="Google Shape;614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3400"/>
            <a:ext cx="27622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0"/>
          <p:cNvSpPr txBox="1"/>
          <p:nvPr/>
        </p:nvSpPr>
        <p:spPr>
          <a:xfrm>
            <a:off x="990600" y="2390775"/>
            <a:ext cx="5000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KNN </a:t>
            </a:r>
            <a:r>
              <a:rPr lang="en-US" sz="1125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모델</a:t>
            </a:r>
            <a:r>
              <a:rPr lang="en-US" sz="1125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사용자별</a:t>
            </a:r>
            <a:r>
              <a:rPr lang="en-US" sz="1125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평가</a:t>
            </a:r>
            <a:endParaRPr dirty="0"/>
          </a:p>
        </p:txBody>
      </p:sp>
      <p:sp>
        <p:nvSpPr>
          <p:cNvPr id="616" name="Google Shape;616;p40"/>
          <p:cNvSpPr/>
          <p:nvPr/>
        </p:nvSpPr>
        <p:spPr>
          <a:xfrm>
            <a:off x="771525" y="2676525"/>
            <a:ext cx="4981500" cy="2466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7" name="Google Shape;617;p40"/>
          <p:cNvGraphicFramePr/>
          <p:nvPr>
            <p:extLst>
              <p:ext uri="{D42A27DB-BD31-4B8C-83A1-F6EECF244321}">
                <p14:modId xmlns:p14="http://schemas.microsoft.com/office/powerpoint/2010/main" val="1741630701"/>
              </p:ext>
            </p:extLst>
          </p:nvPr>
        </p:nvGraphicFramePr>
        <p:xfrm>
          <a:off x="771525" y="2676525"/>
          <a:ext cx="4981600" cy="2466975"/>
        </p:xfrm>
        <a:graphic>
          <a:graphicData uri="http://schemas.openxmlformats.org/drawingml/2006/table">
            <a:tbl>
              <a:tblPr firstRow="1" bandRow="1">
                <a:noFill/>
                <a:tableStyleId>{B6E0D2BD-2155-4C02-B294-2F15D94BEF02}</a:tableStyleId>
              </a:tblPr>
              <a:tblGrid>
                <a:gridCol w="178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User ID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 dirty="0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Accuracy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Precision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Recall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F1-Score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500" dirty="0"/>
                        <a:t>A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0.9577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0.9699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0.9148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0.9415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7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0.9937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0.9882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0.9940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0.9911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7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0.9979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0.7500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0.8571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7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0.9746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0.9394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0.7561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0.8378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7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0.9810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0.9121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0.9881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0.9486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Overall Average</a:t>
                      </a:r>
                      <a:endParaRPr sz="16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0.9810</a:t>
                      </a:r>
                      <a:endParaRPr sz="16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0.9619</a:t>
                      </a:r>
                      <a:endParaRPr sz="16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0.8806</a:t>
                      </a:r>
                      <a:endParaRPr sz="16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0.9152</a:t>
                      </a:r>
                      <a:endParaRPr sz="16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18" name="Google Shape;618;p40"/>
          <p:cNvSpPr txBox="1"/>
          <p:nvPr/>
        </p:nvSpPr>
        <p:spPr>
          <a:xfrm>
            <a:off x="6638925" y="2390775"/>
            <a:ext cx="50205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Random Forest </a:t>
            </a:r>
            <a:r>
              <a:rPr lang="en-US" sz="1125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모델</a:t>
            </a:r>
            <a:r>
              <a:rPr lang="en-US" sz="1125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사용자별</a:t>
            </a:r>
            <a:r>
              <a:rPr lang="en-US" sz="1125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평가</a:t>
            </a:r>
            <a:endParaRPr dirty="0"/>
          </a:p>
        </p:txBody>
      </p:sp>
      <p:sp>
        <p:nvSpPr>
          <p:cNvPr id="619" name="Google Shape;619;p40"/>
          <p:cNvSpPr/>
          <p:nvPr/>
        </p:nvSpPr>
        <p:spPr>
          <a:xfrm>
            <a:off x="6438900" y="2676525"/>
            <a:ext cx="4981500" cy="2466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0" name="Google Shape;620;p40"/>
          <p:cNvGraphicFramePr/>
          <p:nvPr>
            <p:extLst>
              <p:ext uri="{D42A27DB-BD31-4B8C-83A1-F6EECF244321}">
                <p14:modId xmlns:p14="http://schemas.microsoft.com/office/powerpoint/2010/main" val="3276722393"/>
              </p:ext>
            </p:extLst>
          </p:nvPr>
        </p:nvGraphicFramePr>
        <p:xfrm>
          <a:off x="6438900" y="2676525"/>
          <a:ext cx="4981600" cy="2466975"/>
        </p:xfrm>
        <a:graphic>
          <a:graphicData uri="http://schemas.openxmlformats.org/drawingml/2006/table">
            <a:tbl>
              <a:tblPr firstRow="1" bandRow="1">
                <a:noFill/>
                <a:tableStyleId>{B6E0D2BD-2155-4C02-B294-2F15D94BEF02}</a:tableStyleId>
              </a:tblPr>
              <a:tblGrid>
                <a:gridCol w="178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 dirty="0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User ID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Accuracy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Precision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Recall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F1-Score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7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0.9979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0.9944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0.9972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7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7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7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0.9937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0.9750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0.9512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0.9630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7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0.9958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0.9767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0.9882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Overall Average</a:t>
                      </a:r>
                      <a:endParaRPr sz="16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0.9975</a:t>
                      </a:r>
                      <a:endParaRPr sz="16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0.9892</a:t>
                      </a:r>
                      <a:endParaRPr sz="16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0.9902</a:t>
                      </a:r>
                      <a:endParaRPr sz="16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75" b="1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0.9897</a:t>
                      </a:r>
                      <a:endParaRPr sz="16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21" name="Google Shape;621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41458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0"/>
          <p:cNvSpPr/>
          <p:nvPr/>
        </p:nvSpPr>
        <p:spPr>
          <a:xfrm>
            <a:off x="771525" y="3014662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0"/>
          <p:cNvSpPr/>
          <p:nvPr/>
        </p:nvSpPr>
        <p:spPr>
          <a:xfrm>
            <a:off x="2559248" y="3014662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0"/>
          <p:cNvSpPr/>
          <p:nvPr/>
        </p:nvSpPr>
        <p:spPr>
          <a:xfrm>
            <a:off x="3412926" y="3014662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0"/>
          <p:cNvSpPr/>
          <p:nvPr/>
        </p:nvSpPr>
        <p:spPr>
          <a:xfrm>
            <a:off x="4236392" y="3014662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0"/>
          <p:cNvSpPr/>
          <p:nvPr/>
        </p:nvSpPr>
        <p:spPr>
          <a:xfrm>
            <a:off x="4939307" y="3014662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7" name="Google Shape;627;p4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900" y="2414587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40"/>
          <p:cNvSpPr/>
          <p:nvPr/>
        </p:nvSpPr>
        <p:spPr>
          <a:xfrm>
            <a:off x="6438900" y="3014662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0"/>
          <p:cNvSpPr/>
          <p:nvPr/>
        </p:nvSpPr>
        <p:spPr>
          <a:xfrm>
            <a:off x="8226623" y="3014662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0"/>
          <p:cNvSpPr/>
          <p:nvPr/>
        </p:nvSpPr>
        <p:spPr>
          <a:xfrm>
            <a:off x="9080301" y="3014662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0"/>
          <p:cNvSpPr/>
          <p:nvPr/>
        </p:nvSpPr>
        <p:spPr>
          <a:xfrm>
            <a:off x="9903767" y="3014662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0"/>
          <p:cNvSpPr/>
          <p:nvPr/>
        </p:nvSpPr>
        <p:spPr>
          <a:xfrm>
            <a:off x="10606682" y="3014662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0"/>
          <p:cNvSpPr/>
          <p:nvPr/>
        </p:nvSpPr>
        <p:spPr>
          <a:xfrm>
            <a:off x="771525" y="3367087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0"/>
          <p:cNvSpPr/>
          <p:nvPr/>
        </p:nvSpPr>
        <p:spPr>
          <a:xfrm>
            <a:off x="2559248" y="3367087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0"/>
          <p:cNvSpPr/>
          <p:nvPr/>
        </p:nvSpPr>
        <p:spPr>
          <a:xfrm>
            <a:off x="3412926" y="3367087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4236392" y="3367087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0"/>
          <p:cNvSpPr/>
          <p:nvPr/>
        </p:nvSpPr>
        <p:spPr>
          <a:xfrm>
            <a:off x="4939307" y="3367087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0"/>
          <p:cNvSpPr/>
          <p:nvPr/>
        </p:nvSpPr>
        <p:spPr>
          <a:xfrm>
            <a:off x="771525" y="3719512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0"/>
          <p:cNvSpPr/>
          <p:nvPr/>
        </p:nvSpPr>
        <p:spPr>
          <a:xfrm>
            <a:off x="2559248" y="3719512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0"/>
          <p:cNvSpPr/>
          <p:nvPr/>
        </p:nvSpPr>
        <p:spPr>
          <a:xfrm>
            <a:off x="3412926" y="3719512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0"/>
          <p:cNvSpPr/>
          <p:nvPr/>
        </p:nvSpPr>
        <p:spPr>
          <a:xfrm>
            <a:off x="4236392" y="3719512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0"/>
          <p:cNvSpPr/>
          <p:nvPr/>
        </p:nvSpPr>
        <p:spPr>
          <a:xfrm>
            <a:off x="4939307" y="3719512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40"/>
          <p:cNvSpPr/>
          <p:nvPr/>
        </p:nvSpPr>
        <p:spPr>
          <a:xfrm>
            <a:off x="771525" y="4071937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40"/>
          <p:cNvSpPr/>
          <p:nvPr/>
        </p:nvSpPr>
        <p:spPr>
          <a:xfrm>
            <a:off x="2559248" y="4071937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0"/>
          <p:cNvSpPr/>
          <p:nvPr/>
        </p:nvSpPr>
        <p:spPr>
          <a:xfrm>
            <a:off x="3412926" y="4071937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0"/>
          <p:cNvSpPr/>
          <p:nvPr/>
        </p:nvSpPr>
        <p:spPr>
          <a:xfrm>
            <a:off x="4236392" y="4071937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0"/>
          <p:cNvSpPr/>
          <p:nvPr/>
        </p:nvSpPr>
        <p:spPr>
          <a:xfrm>
            <a:off x="4939307" y="4071937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0"/>
          <p:cNvSpPr/>
          <p:nvPr/>
        </p:nvSpPr>
        <p:spPr>
          <a:xfrm>
            <a:off x="771525" y="4424362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0"/>
          <p:cNvSpPr/>
          <p:nvPr/>
        </p:nvSpPr>
        <p:spPr>
          <a:xfrm>
            <a:off x="2559248" y="4424362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0"/>
          <p:cNvSpPr/>
          <p:nvPr/>
        </p:nvSpPr>
        <p:spPr>
          <a:xfrm>
            <a:off x="3412926" y="4424362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0"/>
          <p:cNvSpPr/>
          <p:nvPr/>
        </p:nvSpPr>
        <p:spPr>
          <a:xfrm>
            <a:off x="4236392" y="4424362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4939307" y="4424362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0"/>
          <p:cNvSpPr/>
          <p:nvPr/>
        </p:nvSpPr>
        <p:spPr>
          <a:xfrm>
            <a:off x="771525" y="4776787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0"/>
          <p:cNvSpPr/>
          <p:nvPr/>
        </p:nvSpPr>
        <p:spPr>
          <a:xfrm>
            <a:off x="2559248" y="4776787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0"/>
          <p:cNvSpPr/>
          <p:nvPr/>
        </p:nvSpPr>
        <p:spPr>
          <a:xfrm>
            <a:off x="3412926" y="4776787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0"/>
          <p:cNvSpPr/>
          <p:nvPr/>
        </p:nvSpPr>
        <p:spPr>
          <a:xfrm>
            <a:off x="4236392" y="4776787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0"/>
          <p:cNvSpPr/>
          <p:nvPr/>
        </p:nvSpPr>
        <p:spPr>
          <a:xfrm>
            <a:off x="4939307" y="4776787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0"/>
          <p:cNvSpPr/>
          <p:nvPr/>
        </p:nvSpPr>
        <p:spPr>
          <a:xfrm>
            <a:off x="771525" y="5129212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0"/>
          <p:cNvSpPr/>
          <p:nvPr/>
        </p:nvSpPr>
        <p:spPr>
          <a:xfrm>
            <a:off x="2559248" y="5129212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0"/>
          <p:cNvSpPr/>
          <p:nvPr/>
        </p:nvSpPr>
        <p:spPr>
          <a:xfrm>
            <a:off x="3412926" y="5129212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0"/>
          <p:cNvSpPr/>
          <p:nvPr/>
        </p:nvSpPr>
        <p:spPr>
          <a:xfrm>
            <a:off x="4236392" y="5129212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0"/>
          <p:cNvSpPr/>
          <p:nvPr/>
        </p:nvSpPr>
        <p:spPr>
          <a:xfrm>
            <a:off x="4939307" y="5129212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0"/>
          <p:cNvSpPr/>
          <p:nvPr/>
        </p:nvSpPr>
        <p:spPr>
          <a:xfrm>
            <a:off x="6438900" y="3367087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0"/>
          <p:cNvSpPr/>
          <p:nvPr/>
        </p:nvSpPr>
        <p:spPr>
          <a:xfrm>
            <a:off x="8226623" y="3367087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0"/>
          <p:cNvSpPr/>
          <p:nvPr/>
        </p:nvSpPr>
        <p:spPr>
          <a:xfrm>
            <a:off x="9080301" y="3367087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0"/>
          <p:cNvSpPr/>
          <p:nvPr/>
        </p:nvSpPr>
        <p:spPr>
          <a:xfrm>
            <a:off x="9903767" y="3367087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40"/>
          <p:cNvSpPr/>
          <p:nvPr/>
        </p:nvSpPr>
        <p:spPr>
          <a:xfrm>
            <a:off x="10606682" y="3367087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40"/>
          <p:cNvSpPr/>
          <p:nvPr/>
        </p:nvSpPr>
        <p:spPr>
          <a:xfrm>
            <a:off x="6438900" y="3719512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0"/>
          <p:cNvSpPr/>
          <p:nvPr/>
        </p:nvSpPr>
        <p:spPr>
          <a:xfrm>
            <a:off x="8226623" y="3719512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0"/>
          <p:cNvSpPr/>
          <p:nvPr/>
        </p:nvSpPr>
        <p:spPr>
          <a:xfrm>
            <a:off x="9080301" y="3719512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0"/>
          <p:cNvSpPr/>
          <p:nvPr/>
        </p:nvSpPr>
        <p:spPr>
          <a:xfrm>
            <a:off x="9903767" y="3719512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0"/>
          <p:cNvSpPr/>
          <p:nvPr/>
        </p:nvSpPr>
        <p:spPr>
          <a:xfrm>
            <a:off x="10606682" y="3719512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0"/>
          <p:cNvSpPr/>
          <p:nvPr/>
        </p:nvSpPr>
        <p:spPr>
          <a:xfrm>
            <a:off x="6438900" y="4071937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0"/>
          <p:cNvSpPr/>
          <p:nvPr/>
        </p:nvSpPr>
        <p:spPr>
          <a:xfrm>
            <a:off x="8226623" y="4071937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0"/>
          <p:cNvSpPr/>
          <p:nvPr/>
        </p:nvSpPr>
        <p:spPr>
          <a:xfrm>
            <a:off x="9080301" y="4071937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0"/>
          <p:cNvSpPr/>
          <p:nvPr/>
        </p:nvSpPr>
        <p:spPr>
          <a:xfrm>
            <a:off x="9903767" y="4071937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0"/>
          <p:cNvSpPr/>
          <p:nvPr/>
        </p:nvSpPr>
        <p:spPr>
          <a:xfrm>
            <a:off x="10606682" y="4071937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0"/>
          <p:cNvSpPr/>
          <p:nvPr/>
        </p:nvSpPr>
        <p:spPr>
          <a:xfrm>
            <a:off x="6438900" y="4424362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0"/>
          <p:cNvSpPr/>
          <p:nvPr/>
        </p:nvSpPr>
        <p:spPr>
          <a:xfrm>
            <a:off x="8226623" y="4424362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0"/>
          <p:cNvSpPr/>
          <p:nvPr/>
        </p:nvSpPr>
        <p:spPr>
          <a:xfrm>
            <a:off x="9080301" y="4424362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0"/>
          <p:cNvSpPr/>
          <p:nvPr/>
        </p:nvSpPr>
        <p:spPr>
          <a:xfrm>
            <a:off x="9903767" y="4424362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0"/>
          <p:cNvSpPr/>
          <p:nvPr/>
        </p:nvSpPr>
        <p:spPr>
          <a:xfrm>
            <a:off x="10606682" y="4424362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0"/>
          <p:cNvSpPr/>
          <p:nvPr/>
        </p:nvSpPr>
        <p:spPr>
          <a:xfrm>
            <a:off x="6438900" y="4776787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0"/>
          <p:cNvSpPr/>
          <p:nvPr/>
        </p:nvSpPr>
        <p:spPr>
          <a:xfrm>
            <a:off x="8226623" y="4776787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0"/>
          <p:cNvSpPr/>
          <p:nvPr/>
        </p:nvSpPr>
        <p:spPr>
          <a:xfrm>
            <a:off x="9080301" y="4776787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0"/>
          <p:cNvSpPr/>
          <p:nvPr/>
        </p:nvSpPr>
        <p:spPr>
          <a:xfrm>
            <a:off x="9903767" y="4776787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0"/>
          <p:cNvSpPr/>
          <p:nvPr/>
        </p:nvSpPr>
        <p:spPr>
          <a:xfrm>
            <a:off x="10606682" y="4776787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0"/>
          <p:cNvSpPr/>
          <p:nvPr/>
        </p:nvSpPr>
        <p:spPr>
          <a:xfrm>
            <a:off x="6438900" y="5129212"/>
            <a:ext cx="17877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0"/>
          <p:cNvSpPr/>
          <p:nvPr/>
        </p:nvSpPr>
        <p:spPr>
          <a:xfrm>
            <a:off x="8226623" y="5129212"/>
            <a:ext cx="853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0"/>
          <p:cNvSpPr/>
          <p:nvPr/>
        </p:nvSpPr>
        <p:spPr>
          <a:xfrm>
            <a:off x="9080301" y="5129212"/>
            <a:ext cx="823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0"/>
          <p:cNvSpPr/>
          <p:nvPr/>
        </p:nvSpPr>
        <p:spPr>
          <a:xfrm>
            <a:off x="9903767" y="5129212"/>
            <a:ext cx="702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0"/>
          <p:cNvSpPr/>
          <p:nvPr/>
        </p:nvSpPr>
        <p:spPr>
          <a:xfrm>
            <a:off x="10606682" y="5129212"/>
            <a:ext cx="81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36614"/>
            <a:ext cx="5381625" cy="2641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436614"/>
            <a:ext cx="5381625" cy="2641996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1"/>
          <p:cNvSpPr txBox="1"/>
          <p:nvPr/>
        </p:nvSpPr>
        <p:spPr>
          <a:xfrm>
            <a:off x="981075" y="476250"/>
            <a:ext cx="111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모델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비교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랜덤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포레스트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(Random Forest)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채택</a:t>
            </a:r>
            <a:endParaRPr dirty="0"/>
          </a:p>
        </p:txBody>
      </p:sp>
      <p:pic>
        <p:nvPicPr>
          <p:cNvPr id="700" name="Google Shape;700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3400"/>
            <a:ext cx="295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1"/>
          <p:cNvSpPr txBox="1"/>
          <p:nvPr/>
        </p:nvSpPr>
        <p:spPr>
          <a:xfrm>
            <a:off x="6705600" y="2674739"/>
            <a:ext cx="4910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실환경</a:t>
            </a:r>
            <a:r>
              <a:rPr lang="en-US" sz="14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4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14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평균</a:t>
            </a:r>
            <a:r>
              <a:rPr lang="en-US" sz="14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지표</a:t>
            </a:r>
            <a:r>
              <a:rPr lang="en-US" sz="14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비교</a:t>
            </a:r>
            <a:endParaRPr sz="1500" dirty="0"/>
          </a:p>
        </p:txBody>
      </p:sp>
      <p:sp>
        <p:nvSpPr>
          <p:cNvPr id="702" name="Google Shape;702;p41"/>
          <p:cNvSpPr/>
          <p:nvPr/>
        </p:nvSpPr>
        <p:spPr>
          <a:xfrm>
            <a:off x="6477000" y="3112889"/>
            <a:ext cx="4905300" cy="1238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3" name="Google Shape;703;p41"/>
          <p:cNvGraphicFramePr/>
          <p:nvPr/>
        </p:nvGraphicFramePr>
        <p:xfrm>
          <a:off x="6477000" y="3112889"/>
          <a:ext cx="4905375" cy="1238250"/>
        </p:xfrm>
        <a:graphic>
          <a:graphicData uri="http://schemas.openxmlformats.org/drawingml/2006/table">
            <a:tbl>
              <a:tblPr firstRow="1" bandRow="1">
                <a:noFill/>
                <a:tableStyleId>{B6E0D2BD-2155-4C02-B294-2F15D94BEF02}</a:tableStyleId>
              </a:tblPr>
              <a:tblGrid>
                <a:gridCol w="14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모델명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Accuracy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Precision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Recall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F1-Score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KNN </a:t>
                      </a:r>
                      <a:r>
                        <a:rPr lang="en-US" sz="11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모델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0.9810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0.9619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0.8806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0.9152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Random Forest</a:t>
                      </a:r>
                      <a:endParaRPr sz="1500"/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0.9975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0.9892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0.9902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u="none" strike="noStrike" cap="none" dirty="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0.9897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4" name="Google Shape;704;p41"/>
          <p:cNvSpPr txBox="1"/>
          <p:nvPr/>
        </p:nvSpPr>
        <p:spPr>
          <a:xfrm>
            <a:off x="6477000" y="4494027"/>
            <a:ext cx="4905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※ </a:t>
            </a:r>
            <a:r>
              <a:rPr lang="en-US" sz="1075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결론</a:t>
            </a:r>
            <a:r>
              <a:rPr lang="en-US" sz="1075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모든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지표에서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Random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Forest가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KNN을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압도함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특히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미탐율과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직결되는</a:t>
            </a:r>
            <a:r>
              <a:rPr lang="en-US" sz="1075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재현율</a:t>
            </a:r>
            <a:r>
              <a:rPr lang="en-US" sz="1075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(Recall)이 88.06%에서 99.02%로 </a:t>
            </a:r>
            <a:r>
              <a:rPr lang="en-US" sz="1075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크게</a:t>
            </a:r>
            <a:r>
              <a:rPr lang="en-US" sz="1075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75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향상</a:t>
            </a:r>
            <a:endParaRPr sz="1500" dirty="0"/>
          </a:p>
        </p:txBody>
      </p:sp>
      <p:sp>
        <p:nvSpPr>
          <p:cNvPr id="705" name="Google Shape;705;p41"/>
          <p:cNvSpPr txBox="1"/>
          <p:nvPr/>
        </p:nvSpPr>
        <p:spPr>
          <a:xfrm>
            <a:off x="1076325" y="2674739"/>
            <a:ext cx="48705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RBA</a:t>
            </a:r>
            <a:r>
              <a:rPr lang="en-US" sz="1450" b="1" dirty="0" err="1">
                <a:latin typeface="Inter"/>
                <a:ea typeface="Inter"/>
                <a:cs typeface="Inter"/>
                <a:sym typeface="Inter"/>
              </a:rPr>
              <a:t>의</a:t>
            </a:r>
            <a:r>
              <a:rPr lang="en-US" sz="14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장점</a:t>
            </a:r>
            <a:endParaRPr sz="1500" dirty="0"/>
          </a:p>
        </p:txBody>
      </p:sp>
      <p:pic>
        <p:nvPicPr>
          <p:cNvPr id="706" name="Google Shape;706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7000" y="2703314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41"/>
          <p:cNvSpPr/>
          <p:nvPr/>
        </p:nvSpPr>
        <p:spPr>
          <a:xfrm>
            <a:off x="6477000" y="3517701"/>
            <a:ext cx="1458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1"/>
          <p:cNvSpPr/>
          <p:nvPr/>
        </p:nvSpPr>
        <p:spPr>
          <a:xfrm>
            <a:off x="7935813" y="3517701"/>
            <a:ext cx="910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41"/>
          <p:cNvSpPr/>
          <p:nvPr/>
        </p:nvSpPr>
        <p:spPr>
          <a:xfrm>
            <a:off x="8846343" y="3517701"/>
            <a:ext cx="910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1"/>
          <p:cNvSpPr/>
          <p:nvPr/>
        </p:nvSpPr>
        <p:spPr>
          <a:xfrm>
            <a:off x="9756874" y="3517701"/>
            <a:ext cx="75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1"/>
          <p:cNvSpPr/>
          <p:nvPr/>
        </p:nvSpPr>
        <p:spPr>
          <a:xfrm>
            <a:off x="10510688" y="3517701"/>
            <a:ext cx="871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2" name="Google Shape;712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269261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41"/>
          <p:cNvSpPr txBox="1"/>
          <p:nvPr/>
        </p:nvSpPr>
        <p:spPr>
          <a:xfrm>
            <a:off x="952500" y="3017639"/>
            <a:ext cx="47625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직관적인</a:t>
            </a:r>
            <a:r>
              <a:rPr lang="en-US" sz="12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위험</a:t>
            </a:r>
            <a:r>
              <a:rPr lang="en-US" sz="12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점수</a:t>
            </a:r>
            <a:r>
              <a:rPr lang="en-US" sz="12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(Risk Score) </a:t>
            </a:r>
            <a:r>
              <a:rPr lang="en-US" sz="12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산출</a:t>
            </a:r>
            <a:r>
              <a:rPr lang="en-US" sz="12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다수의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의사결정나무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투표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결과를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기반으로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하여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이상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로그인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확률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스코어링이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정교함</a:t>
            </a:r>
            <a:endParaRPr lang="en-US" sz="1250" b="0" i="0" u="none" strike="noStrike" cap="none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lnSpc>
                <a:spcPct val="159904"/>
              </a:lnSpc>
              <a:buFont typeface="Wingdings" panose="05000000000000000000" pitchFamily="2" charset="2"/>
              <a:buChar char="§"/>
            </a:pPr>
            <a:r>
              <a:rPr lang="ko-KR" altLang="en-US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혼합형 데이터 처리 능력</a:t>
            </a:r>
            <a:r>
              <a:rPr lang="en-US" altLang="ko-KR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ko-KR" alt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범주형</a:t>
            </a:r>
            <a:r>
              <a:rPr lang="en-US" altLang="ko-KR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(OS, </a:t>
            </a:r>
            <a:r>
              <a:rPr lang="ko-KR" alt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브라우저 등</a:t>
            </a:r>
            <a:r>
              <a:rPr lang="en-US" altLang="ko-KR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ko-KR" alt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과 수치형</a:t>
            </a:r>
            <a:r>
              <a:rPr lang="en-US" altLang="ko-KR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ko-KR" alt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시간대</a:t>
            </a:r>
            <a:r>
              <a:rPr lang="en-US" altLang="ko-KR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ko-KR" alt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속도 등</a:t>
            </a:r>
            <a:r>
              <a:rPr lang="en-US" altLang="ko-KR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ko-KR" alt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데이터의 복잡한 </a:t>
            </a:r>
            <a:r>
              <a:rPr lang="ko-KR" alt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전처리</a:t>
            </a:r>
            <a:r>
              <a:rPr lang="ko-KR" alt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없이 자체 처리 가능</a:t>
            </a:r>
            <a:endParaRPr lang="en-US" altLang="ko-KR" sz="1250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lnSpc>
                <a:spcPct val="159904"/>
              </a:lnSpc>
              <a:buFont typeface="Wingdings" panose="05000000000000000000" pitchFamily="2" charset="2"/>
              <a:buChar char="§"/>
            </a:pPr>
            <a:r>
              <a:rPr lang="ko-KR" altLang="en-US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특성 중요도</a:t>
            </a:r>
            <a:r>
              <a:rPr lang="en-US" altLang="ko-KR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(Feature Importance) </a:t>
            </a:r>
            <a:r>
              <a:rPr lang="ko-KR" altLang="en-US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제공</a:t>
            </a:r>
            <a:r>
              <a:rPr lang="en-US" altLang="ko-KR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ko-KR" alt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어떤 속성이 위험 판단에 기여했는지 근거 시각화가 가능하여 설명 가능성 확보</a:t>
            </a:r>
            <a:endParaRPr lang="ko-KR" altLang="en-US" sz="1250" dirty="0"/>
          </a:p>
        </p:txBody>
      </p:sp>
      <p:sp>
        <p:nvSpPr>
          <p:cNvPr id="716" name="Google Shape;716;p41"/>
          <p:cNvSpPr/>
          <p:nvPr/>
        </p:nvSpPr>
        <p:spPr>
          <a:xfrm>
            <a:off x="6477000" y="3936801"/>
            <a:ext cx="1458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1"/>
          <p:cNvSpPr/>
          <p:nvPr/>
        </p:nvSpPr>
        <p:spPr>
          <a:xfrm>
            <a:off x="7935813" y="3936801"/>
            <a:ext cx="910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1"/>
          <p:cNvSpPr/>
          <p:nvPr/>
        </p:nvSpPr>
        <p:spPr>
          <a:xfrm>
            <a:off x="8846343" y="3936801"/>
            <a:ext cx="910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1"/>
          <p:cNvSpPr/>
          <p:nvPr/>
        </p:nvSpPr>
        <p:spPr>
          <a:xfrm>
            <a:off x="9756874" y="3936801"/>
            <a:ext cx="75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1"/>
          <p:cNvSpPr/>
          <p:nvPr/>
        </p:nvSpPr>
        <p:spPr>
          <a:xfrm>
            <a:off x="10510688" y="3936801"/>
            <a:ext cx="871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41"/>
          <p:cNvSpPr/>
          <p:nvPr/>
        </p:nvSpPr>
        <p:spPr>
          <a:xfrm>
            <a:off x="6477000" y="4336851"/>
            <a:ext cx="1458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1"/>
          <p:cNvSpPr/>
          <p:nvPr/>
        </p:nvSpPr>
        <p:spPr>
          <a:xfrm>
            <a:off x="7935813" y="4336851"/>
            <a:ext cx="910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1"/>
          <p:cNvSpPr/>
          <p:nvPr/>
        </p:nvSpPr>
        <p:spPr>
          <a:xfrm>
            <a:off x="8846343" y="4336851"/>
            <a:ext cx="910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1"/>
          <p:cNvSpPr/>
          <p:nvPr/>
        </p:nvSpPr>
        <p:spPr>
          <a:xfrm>
            <a:off x="9756874" y="4336851"/>
            <a:ext cx="7539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1"/>
          <p:cNvSpPr/>
          <p:nvPr/>
        </p:nvSpPr>
        <p:spPr>
          <a:xfrm>
            <a:off x="10510688" y="4336851"/>
            <a:ext cx="8718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9" name="Google Shape;729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7442" y="4084439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4" name="Google Shape;734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8336" y="969250"/>
            <a:ext cx="7915326" cy="537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42"/>
          <p:cNvSpPr txBox="1"/>
          <p:nvPr/>
        </p:nvSpPr>
        <p:spPr>
          <a:xfrm>
            <a:off x="1057275" y="476250"/>
            <a:ext cx="1109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RBA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주요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속성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간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상관관계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분석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(Feature Correlation Heatmap)</a:t>
            </a:r>
            <a:endParaRPr dirty="0"/>
          </a:p>
        </p:txBody>
      </p:sp>
      <p:pic>
        <p:nvPicPr>
          <p:cNvPr id="736" name="Google Shape;736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33400"/>
            <a:ext cx="3714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42"/>
          <p:cNvSpPr txBox="1"/>
          <p:nvPr/>
        </p:nvSpPr>
        <p:spPr>
          <a:xfrm>
            <a:off x="4320588" y="6463150"/>
            <a:ext cx="35508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[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데이터셋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내부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속성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간 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선형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상관성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분포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플롯</a:t>
            </a:r>
            <a:r>
              <a:rPr lang="en-US" sz="1150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endParaRPr sz="1500" dirty="0"/>
          </a:p>
        </p:txBody>
      </p:sp>
      <p:pic>
        <p:nvPicPr>
          <p:cNvPr id="738" name="Google Shape;73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2952" y="1210580"/>
            <a:ext cx="7526088" cy="488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Google Shape;743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01353"/>
            <a:ext cx="11049000" cy="4912518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43"/>
          <p:cNvSpPr txBox="1"/>
          <p:nvPr/>
        </p:nvSpPr>
        <p:spPr>
          <a:xfrm>
            <a:off x="1019175" y="476250"/>
            <a:ext cx="1113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특정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속성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배제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(Drop Features)에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따른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모델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변화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분석</a:t>
            </a:r>
            <a:endParaRPr dirty="0"/>
          </a:p>
        </p:txBody>
      </p:sp>
      <p:pic>
        <p:nvPicPr>
          <p:cNvPr id="745" name="Google Shape;745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33400"/>
            <a:ext cx="3333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43"/>
          <p:cNvSpPr txBox="1"/>
          <p:nvPr/>
        </p:nvSpPr>
        <p:spPr>
          <a:xfrm>
            <a:off x="1057275" y="1539478"/>
            <a:ext cx="10841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속성</a:t>
            </a:r>
            <a:r>
              <a:rPr lang="en-US" sz="13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제거</a:t>
            </a:r>
            <a:r>
              <a:rPr lang="en-US" sz="13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조합별</a:t>
            </a:r>
            <a:r>
              <a:rPr lang="en-US" sz="13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전체</a:t>
            </a:r>
            <a:r>
              <a:rPr lang="en-US" sz="13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평균</a:t>
            </a:r>
            <a:r>
              <a:rPr lang="en-US" sz="13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결과</a:t>
            </a:r>
            <a:r>
              <a:rPr lang="en-US" sz="13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비교</a:t>
            </a:r>
            <a:endParaRPr dirty="0"/>
          </a:p>
        </p:txBody>
      </p:sp>
      <p:sp>
        <p:nvSpPr>
          <p:cNvPr id="747" name="Google Shape;747;p43"/>
          <p:cNvSpPr/>
          <p:nvPr/>
        </p:nvSpPr>
        <p:spPr>
          <a:xfrm>
            <a:off x="809625" y="1910953"/>
            <a:ext cx="10572900" cy="3343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48" name="Google Shape;748;p43"/>
          <p:cNvGraphicFramePr/>
          <p:nvPr/>
        </p:nvGraphicFramePr>
        <p:xfrm>
          <a:off x="809625" y="1910953"/>
          <a:ext cx="10572750" cy="3343200"/>
        </p:xfrm>
        <a:graphic>
          <a:graphicData uri="http://schemas.openxmlformats.org/drawingml/2006/table">
            <a:tbl>
              <a:tblPr firstRow="1" bandRow="1">
                <a:noFill/>
                <a:tableStyleId>{B6E0D2BD-2155-4C02-B294-2F15D94BEF02}</a:tableStyleId>
              </a:tblPr>
              <a:tblGrid>
                <a:gridCol w="275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79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7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제거한 속성 조건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Accuracy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Precision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Recall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F1-Score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615D5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탐지 영향 분석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제거 없음 (기본 Baseline)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0.9987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0.9940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0.9951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0.9946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solidFill>
                            <a:srgbClr val="31302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기준점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 Attack IP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0.9975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DD5B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0.9892</a:t>
                      </a:r>
                      <a:endParaRPr sz="1600">
                        <a:solidFill>
                          <a:srgbClr val="DD5B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DD5B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0.9902</a:t>
                      </a:r>
                      <a:endParaRPr sz="1600">
                        <a:solidFill>
                          <a:srgbClr val="DD5B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DD5B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0.9897</a:t>
                      </a:r>
                      <a:endParaRPr sz="1600">
                        <a:solidFill>
                          <a:srgbClr val="DD5B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미세한 지표 하락 발생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City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0.9987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0.9940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0.9951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0.9946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변화 없음 (정보 중복)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 Attack IP + City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0.9970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DD5B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0.9892</a:t>
                      </a:r>
                      <a:endParaRPr sz="1600">
                        <a:solidFill>
                          <a:srgbClr val="DD5B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DD5B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0.9891</a:t>
                      </a:r>
                      <a:endParaRPr sz="1600">
                        <a:solidFill>
                          <a:srgbClr val="DD5B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DD5B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0.9891</a:t>
                      </a:r>
                      <a:endParaRPr sz="1600">
                        <a:solidFill>
                          <a:srgbClr val="DD5B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종합 성능 소폭 감소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Region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0.9983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0.9940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0.9940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0.9940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미미한 변화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Country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0.9983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0.9940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0.9940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0.9940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미미한 변화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City + User Agent String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0.9987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0075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0.9989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DD5B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0.9451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i="0" u="none" strike="noStrike" cap="none">
                          <a:solidFill>
                            <a:srgbClr val="DD5B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0.9684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 </a:t>
                      </a:r>
                      <a:r>
                        <a:rPr lang="en-US" sz="12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급감</a:t>
                      </a:r>
                      <a:r>
                        <a:rPr lang="en-US" sz="12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12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미탐</a:t>
                      </a:r>
                      <a:r>
                        <a:rPr lang="en-US" sz="12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위험</a:t>
                      </a:r>
                      <a:r>
                        <a:rPr lang="en-US" sz="12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50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증가</a:t>
                      </a:r>
                      <a:r>
                        <a:rPr lang="en-US" sz="1250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9" name="Google Shape;749;p43"/>
          <p:cNvSpPr txBox="1"/>
          <p:nvPr/>
        </p:nvSpPr>
        <p:spPr>
          <a:xfrm>
            <a:off x="809625" y="5397103"/>
            <a:ext cx="10572900" cy="28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4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112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주요</a:t>
            </a:r>
            <a:r>
              <a:rPr lang="en-US" sz="1112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요약</a:t>
            </a:r>
            <a:r>
              <a:rPr lang="en-US" sz="1112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지리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정보인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City, Region, </a:t>
            </a:r>
            <a:r>
              <a:rPr lang="en-US" sz="1112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Country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는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단독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배제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시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변화가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거의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없어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피처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간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중복성이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높음을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증명함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br>
              <a:rPr lang="en-US" sz="19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112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주의</a:t>
            </a:r>
            <a:r>
              <a:rPr lang="en-US" sz="1112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파라미터</a:t>
            </a:r>
            <a:r>
              <a:rPr lang="en-US" sz="1112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User Agent </a:t>
            </a:r>
            <a:r>
              <a:rPr lang="en-US" sz="1112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String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을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함께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배제하는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경우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정밀도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(Precision)는 </a:t>
            </a:r>
            <a:r>
              <a:rPr lang="en-US" sz="1112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미상승하나</a:t>
            </a:r>
            <a:r>
              <a:rPr lang="en-US" sz="1112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12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재현율</a:t>
            </a:r>
            <a:r>
              <a:rPr lang="en-US" sz="1112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(Recall)이 94.51%로 </a:t>
            </a:r>
            <a:r>
              <a:rPr lang="en-US" sz="1112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급감</a:t>
            </a:r>
            <a:endParaRPr sz="1500" dirty="0"/>
          </a:p>
        </p:txBody>
      </p:sp>
      <p:pic>
        <p:nvPicPr>
          <p:cNvPr id="750" name="Google Shape;750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" y="156805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43"/>
          <p:cNvSpPr/>
          <p:nvPr/>
        </p:nvSpPr>
        <p:spPr>
          <a:xfrm>
            <a:off x="809625" y="2315765"/>
            <a:ext cx="2750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3"/>
          <p:cNvSpPr/>
          <p:nvPr/>
        </p:nvSpPr>
        <p:spPr>
          <a:xfrm>
            <a:off x="3560117" y="2315765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3"/>
          <p:cNvSpPr/>
          <p:nvPr/>
        </p:nvSpPr>
        <p:spPr>
          <a:xfrm>
            <a:off x="4892426" y="2315765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3"/>
          <p:cNvSpPr/>
          <p:nvPr/>
        </p:nvSpPr>
        <p:spPr>
          <a:xfrm>
            <a:off x="6224736" y="2315765"/>
            <a:ext cx="11031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3"/>
          <p:cNvSpPr/>
          <p:nvPr/>
        </p:nvSpPr>
        <p:spPr>
          <a:xfrm>
            <a:off x="7327850" y="2315765"/>
            <a:ext cx="1275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3"/>
          <p:cNvSpPr/>
          <p:nvPr/>
        </p:nvSpPr>
        <p:spPr>
          <a:xfrm>
            <a:off x="8602860" y="2315765"/>
            <a:ext cx="2779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3"/>
          <p:cNvSpPr/>
          <p:nvPr/>
        </p:nvSpPr>
        <p:spPr>
          <a:xfrm>
            <a:off x="809625" y="2734865"/>
            <a:ext cx="2750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3"/>
          <p:cNvSpPr/>
          <p:nvPr/>
        </p:nvSpPr>
        <p:spPr>
          <a:xfrm>
            <a:off x="3560117" y="2734865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3"/>
          <p:cNvSpPr/>
          <p:nvPr/>
        </p:nvSpPr>
        <p:spPr>
          <a:xfrm>
            <a:off x="4892426" y="2734865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3"/>
          <p:cNvSpPr/>
          <p:nvPr/>
        </p:nvSpPr>
        <p:spPr>
          <a:xfrm>
            <a:off x="6224736" y="2734865"/>
            <a:ext cx="11031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3"/>
          <p:cNvSpPr/>
          <p:nvPr/>
        </p:nvSpPr>
        <p:spPr>
          <a:xfrm>
            <a:off x="7327850" y="2734865"/>
            <a:ext cx="1275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3"/>
          <p:cNvSpPr/>
          <p:nvPr/>
        </p:nvSpPr>
        <p:spPr>
          <a:xfrm>
            <a:off x="8602860" y="2734865"/>
            <a:ext cx="2779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3"/>
          <p:cNvSpPr/>
          <p:nvPr/>
        </p:nvSpPr>
        <p:spPr>
          <a:xfrm>
            <a:off x="809625" y="3153965"/>
            <a:ext cx="2750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3"/>
          <p:cNvSpPr/>
          <p:nvPr/>
        </p:nvSpPr>
        <p:spPr>
          <a:xfrm>
            <a:off x="3560117" y="3153965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3"/>
          <p:cNvSpPr/>
          <p:nvPr/>
        </p:nvSpPr>
        <p:spPr>
          <a:xfrm>
            <a:off x="4892426" y="3153965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3"/>
          <p:cNvSpPr/>
          <p:nvPr/>
        </p:nvSpPr>
        <p:spPr>
          <a:xfrm>
            <a:off x="6224736" y="3153965"/>
            <a:ext cx="11031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3"/>
          <p:cNvSpPr/>
          <p:nvPr/>
        </p:nvSpPr>
        <p:spPr>
          <a:xfrm>
            <a:off x="7327850" y="3153965"/>
            <a:ext cx="1275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3"/>
          <p:cNvSpPr/>
          <p:nvPr/>
        </p:nvSpPr>
        <p:spPr>
          <a:xfrm>
            <a:off x="8602860" y="3153965"/>
            <a:ext cx="2779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3"/>
          <p:cNvSpPr/>
          <p:nvPr/>
        </p:nvSpPr>
        <p:spPr>
          <a:xfrm>
            <a:off x="809625" y="3563540"/>
            <a:ext cx="2750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3"/>
          <p:cNvSpPr/>
          <p:nvPr/>
        </p:nvSpPr>
        <p:spPr>
          <a:xfrm>
            <a:off x="3560117" y="3563540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3"/>
          <p:cNvSpPr/>
          <p:nvPr/>
        </p:nvSpPr>
        <p:spPr>
          <a:xfrm>
            <a:off x="4892426" y="3563540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3"/>
          <p:cNvSpPr/>
          <p:nvPr/>
        </p:nvSpPr>
        <p:spPr>
          <a:xfrm>
            <a:off x="6224736" y="3563540"/>
            <a:ext cx="11031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3"/>
          <p:cNvSpPr/>
          <p:nvPr/>
        </p:nvSpPr>
        <p:spPr>
          <a:xfrm>
            <a:off x="7327850" y="3563540"/>
            <a:ext cx="1275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3"/>
          <p:cNvSpPr/>
          <p:nvPr/>
        </p:nvSpPr>
        <p:spPr>
          <a:xfrm>
            <a:off x="8602860" y="3563540"/>
            <a:ext cx="2779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3"/>
          <p:cNvSpPr/>
          <p:nvPr/>
        </p:nvSpPr>
        <p:spPr>
          <a:xfrm>
            <a:off x="809625" y="3982640"/>
            <a:ext cx="2750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3"/>
          <p:cNvSpPr/>
          <p:nvPr/>
        </p:nvSpPr>
        <p:spPr>
          <a:xfrm>
            <a:off x="3560117" y="3982640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3"/>
          <p:cNvSpPr/>
          <p:nvPr/>
        </p:nvSpPr>
        <p:spPr>
          <a:xfrm>
            <a:off x="4892426" y="3982640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3"/>
          <p:cNvSpPr/>
          <p:nvPr/>
        </p:nvSpPr>
        <p:spPr>
          <a:xfrm>
            <a:off x="6224736" y="3982640"/>
            <a:ext cx="11031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3"/>
          <p:cNvSpPr/>
          <p:nvPr/>
        </p:nvSpPr>
        <p:spPr>
          <a:xfrm>
            <a:off x="7327850" y="3982640"/>
            <a:ext cx="1275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3"/>
          <p:cNvSpPr/>
          <p:nvPr/>
        </p:nvSpPr>
        <p:spPr>
          <a:xfrm>
            <a:off x="8602860" y="3982640"/>
            <a:ext cx="2779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3"/>
          <p:cNvSpPr/>
          <p:nvPr/>
        </p:nvSpPr>
        <p:spPr>
          <a:xfrm>
            <a:off x="809625" y="4401740"/>
            <a:ext cx="2750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3"/>
          <p:cNvSpPr/>
          <p:nvPr/>
        </p:nvSpPr>
        <p:spPr>
          <a:xfrm>
            <a:off x="3560117" y="4401740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3"/>
          <p:cNvSpPr/>
          <p:nvPr/>
        </p:nvSpPr>
        <p:spPr>
          <a:xfrm>
            <a:off x="4892426" y="4401740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3"/>
          <p:cNvSpPr/>
          <p:nvPr/>
        </p:nvSpPr>
        <p:spPr>
          <a:xfrm>
            <a:off x="6224736" y="4401740"/>
            <a:ext cx="11031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3"/>
          <p:cNvSpPr/>
          <p:nvPr/>
        </p:nvSpPr>
        <p:spPr>
          <a:xfrm>
            <a:off x="7327850" y="4401740"/>
            <a:ext cx="1275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3"/>
          <p:cNvSpPr/>
          <p:nvPr/>
        </p:nvSpPr>
        <p:spPr>
          <a:xfrm>
            <a:off x="8602860" y="4401740"/>
            <a:ext cx="2779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43"/>
          <p:cNvSpPr/>
          <p:nvPr/>
        </p:nvSpPr>
        <p:spPr>
          <a:xfrm>
            <a:off x="809625" y="4825603"/>
            <a:ext cx="2750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3"/>
          <p:cNvSpPr/>
          <p:nvPr/>
        </p:nvSpPr>
        <p:spPr>
          <a:xfrm>
            <a:off x="3560117" y="4825603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43"/>
          <p:cNvSpPr/>
          <p:nvPr/>
        </p:nvSpPr>
        <p:spPr>
          <a:xfrm>
            <a:off x="4892426" y="4825603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3"/>
          <p:cNvSpPr/>
          <p:nvPr/>
        </p:nvSpPr>
        <p:spPr>
          <a:xfrm>
            <a:off x="6224736" y="4825603"/>
            <a:ext cx="11031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3"/>
          <p:cNvSpPr/>
          <p:nvPr/>
        </p:nvSpPr>
        <p:spPr>
          <a:xfrm>
            <a:off x="7327850" y="4825603"/>
            <a:ext cx="1275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3"/>
          <p:cNvSpPr/>
          <p:nvPr/>
        </p:nvSpPr>
        <p:spPr>
          <a:xfrm>
            <a:off x="8602860" y="4825603"/>
            <a:ext cx="2779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3"/>
          <p:cNvSpPr/>
          <p:nvPr/>
        </p:nvSpPr>
        <p:spPr>
          <a:xfrm>
            <a:off x="809625" y="5239940"/>
            <a:ext cx="27504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3"/>
          <p:cNvSpPr/>
          <p:nvPr/>
        </p:nvSpPr>
        <p:spPr>
          <a:xfrm>
            <a:off x="3560117" y="5239940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3"/>
          <p:cNvSpPr/>
          <p:nvPr/>
        </p:nvSpPr>
        <p:spPr>
          <a:xfrm>
            <a:off x="4892426" y="5239940"/>
            <a:ext cx="13323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3"/>
          <p:cNvSpPr/>
          <p:nvPr/>
        </p:nvSpPr>
        <p:spPr>
          <a:xfrm>
            <a:off x="6224736" y="5239940"/>
            <a:ext cx="11031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3"/>
          <p:cNvSpPr/>
          <p:nvPr/>
        </p:nvSpPr>
        <p:spPr>
          <a:xfrm>
            <a:off x="7327850" y="5239940"/>
            <a:ext cx="12750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3"/>
          <p:cNvSpPr/>
          <p:nvPr/>
        </p:nvSpPr>
        <p:spPr>
          <a:xfrm>
            <a:off x="8602860" y="5239940"/>
            <a:ext cx="2779500" cy="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Google Shape;803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14971"/>
            <a:ext cx="5381625" cy="368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914971"/>
            <a:ext cx="5381625" cy="368513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44"/>
          <p:cNvSpPr txBox="1"/>
          <p:nvPr/>
        </p:nvSpPr>
        <p:spPr>
          <a:xfrm>
            <a:off x="981075" y="476250"/>
            <a:ext cx="111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최종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속성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(Feature)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선정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결론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위험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스코어링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설계</a:t>
            </a:r>
            <a:endParaRPr dirty="0"/>
          </a:p>
        </p:txBody>
      </p:sp>
      <p:pic>
        <p:nvPicPr>
          <p:cNvPr id="806" name="Google Shape;806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3400"/>
            <a:ext cx="295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44"/>
          <p:cNvSpPr txBox="1"/>
          <p:nvPr/>
        </p:nvSpPr>
        <p:spPr>
          <a:xfrm>
            <a:off x="6724650" y="2153096"/>
            <a:ext cx="4890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Random Forest </a:t>
            </a:r>
            <a:r>
              <a:rPr lang="en-US" sz="1350" b="1" i="0" u="none" strike="noStrike" cap="none" dirty="0" err="1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1350" b="1" i="0" u="none" strike="noStrike" cap="none" dirty="0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 3단계 </a:t>
            </a:r>
            <a:r>
              <a:rPr lang="en-US" sz="1350" b="1" i="0" u="none" strike="noStrike" cap="none" dirty="0" err="1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인증</a:t>
            </a:r>
            <a:r>
              <a:rPr lang="en-US" sz="1350" b="1" i="0" u="none" strike="noStrike" cap="none" dirty="0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DD5B00"/>
                </a:solidFill>
                <a:latin typeface="Inter"/>
                <a:ea typeface="Inter"/>
                <a:cs typeface="Inter"/>
                <a:sym typeface="Inter"/>
              </a:rPr>
              <a:t>체계</a:t>
            </a:r>
            <a:endParaRPr dirty="0"/>
          </a:p>
        </p:txBody>
      </p:sp>
      <p:sp>
        <p:nvSpPr>
          <p:cNvPr id="808" name="Google Shape;808;p44"/>
          <p:cNvSpPr txBox="1"/>
          <p:nvPr/>
        </p:nvSpPr>
        <p:spPr>
          <a:xfrm>
            <a:off x="6477000" y="2495996"/>
            <a:ext cx="49053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모델의</a:t>
            </a:r>
            <a:r>
              <a:rPr lang="en-US" sz="1012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확률</a:t>
            </a:r>
            <a:r>
              <a:rPr lang="en-US" sz="1012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출력</a:t>
            </a:r>
            <a:r>
              <a:rPr lang="en-US" sz="1012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함수를</a:t>
            </a:r>
            <a:r>
              <a:rPr lang="en-US" sz="1012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매핑하여</a:t>
            </a:r>
            <a:r>
              <a:rPr lang="en-US" sz="1012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접속</a:t>
            </a:r>
            <a:r>
              <a:rPr lang="en-US" sz="1012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환경의</a:t>
            </a:r>
            <a:r>
              <a:rPr lang="en-US" sz="1012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신뢰도를</a:t>
            </a:r>
            <a:r>
              <a:rPr lang="en-US" sz="1012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실시간</a:t>
            </a:r>
            <a:r>
              <a:rPr lang="en-US" sz="1012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등급화합니다</a:t>
            </a:r>
            <a:r>
              <a:rPr lang="en-US" sz="1012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809" name="Google Shape;809;p44"/>
          <p:cNvSpPr txBox="1"/>
          <p:nvPr/>
        </p:nvSpPr>
        <p:spPr>
          <a:xfrm>
            <a:off x="6743700" y="3333154"/>
            <a:ext cx="4638600" cy="1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추가</a:t>
            </a:r>
            <a:r>
              <a:rPr lang="en-US" sz="937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7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인증</a:t>
            </a:r>
            <a:r>
              <a:rPr lang="en-US" sz="937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7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없이</a:t>
            </a:r>
            <a:r>
              <a:rPr lang="en-US" sz="937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7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즉시</a:t>
            </a:r>
            <a:r>
              <a:rPr lang="en-US" sz="937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7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로그인</a:t>
            </a:r>
            <a:r>
              <a:rPr lang="en-US" sz="937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7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승인</a:t>
            </a:r>
            <a:r>
              <a:rPr lang="en-US" sz="937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937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편의성</a:t>
            </a:r>
            <a:r>
              <a:rPr lang="en-US" sz="937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7" b="0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극대화</a:t>
            </a:r>
            <a:r>
              <a:rPr lang="en-US" sz="937" b="0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dirty="0"/>
          </a:p>
        </p:txBody>
      </p:sp>
      <p:sp>
        <p:nvSpPr>
          <p:cNvPr id="810" name="Google Shape;810;p44"/>
          <p:cNvSpPr txBox="1"/>
          <p:nvPr/>
        </p:nvSpPr>
        <p:spPr>
          <a:xfrm>
            <a:off x="1076325" y="2153096"/>
            <a:ext cx="48705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상관관계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분석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피처</a:t>
            </a:r>
            <a:r>
              <a:rPr lang="en-US" sz="1450" b="1" i="0" u="none" strike="noStrike" cap="none" dirty="0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1" i="0" u="none" strike="noStrike" cap="none" dirty="0" err="1">
                <a:solidFill>
                  <a:srgbClr val="0075DE"/>
                </a:solidFill>
                <a:latin typeface="Inter"/>
                <a:ea typeface="Inter"/>
                <a:cs typeface="Inter"/>
                <a:sym typeface="Inter"/>
              </a:rPr>
              <a:t>최적화</a:t>
            </a:r>
            <a:endParaRPr sz="1500" dirty="0"/>
          </a:p>
        </p:txBody>
      </p:sp>
      <p:pic>
        <p:nvPicPr>
          <p:cNvPr id="811" name="Google Shape;811;p4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7000" y="218167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4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00825" y="296644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44"/>
          <p:cNvSpPr txBox="1"/>
          <p:nvPr/>
        </p:nvSpPr>
        <p:spPr>
          <a:xfrm>
            <a:off x="6886575" y="2942625"/>
            <a:ext cx="2570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안전</a:t>
            </a:r>
            <a:r>
              <a:rPr lang="en-US" sz="1125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(Safe) ── </a:t>
            </a:r>
            <a:r>
              <a:rPr lang="en-US" sz="1125" dirty="0" err="1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RBA_prob</a:t>
            </a:r>
            <a:r>
              <a:rPr lang="en-US" sz="1125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≥ </a:t>
            </a:r>
            <a:r>
              <a:rPr lang="en-US" sz="1125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75</a:t>
            </a:r>
            <a:endParaRPr dirty="0"/>
          </a:p>
        </p:txBody>
      </p:sp>
      <p:pic>
        <p:nvPicPr>
          <p:cNvPr id="814" name="Google Shape;814;p4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00825" y="375701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44"/>
          <p:cNvSpPr txBox="1"/>
          <p:nvPr/>
        </p:nvSpPr>
        <p:spPr>
          <a:xfrm>
            <a:off x="6886575" y="3733200"/>
            <a:ext cx="31263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854D0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중간</a:t>
            </a:r>
            <a:r>
              <a:rPr lang="en-US" sz="1125" b="0" i="0" u="none" strike="noStrike" cap="none" dirty="0">
                <a:solidFill>
                  <a:srgbClr val="854D0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(Medium) ── </a:t>
            </a:r>
            <a:r>
              <a:rPr lang="en-US" sz="1125" dirty="0">
                <a:solidFill>
                  <a:srgbClr val="854D0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40</a:t>
            </a:r>
            <a:r>
              <a:rPr lang="en-US" sz="1125" b="0" i="0" u="none" strike="noStrike" cap="none" dirty="0">
                <a:solidFill>
                  <a:srgbClr val="854D0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≤ </a:t>
            </a:r>
            <a:r>
              <a:rPr lang="en-US" sz="1125" dirty="0" err="1">
                <a:solidFill>
                  <a:srgbClr val="854D0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RBA_prob</a:t>
            </a:r>
            <a:r>
              <a:rPr lang="en-US" sz="1125" b="0" i="0" u="none" strike="noStrike" cap="none" dirty="0">
                <a:solidFill>
                  <a:srgbClr val="854D0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&lt; </a:t>
            </a:r>
            <a:r>
              <a:rPr lang="en-US" sz="1125" dirty="0">
                <a:solidFill>
                  <a:srgbClr val="854D0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75</a:t>
            </a:r>
            <a:endParaRPr dirty="0"/>
          </a:p>
        </p:txBody>
      </p:sp>
      <p:pic>
        <p:nvPicPr>
          <p:cNvPr id="816" name="Google Shape;816;p4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00825" y="454759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44"/>
          <p:cNvSpPr txBox="1"/>
          <p:nvPr/>
        </p:nvSpPr>
        <p:spPr>
          <a:xfrm>
            <a:off x="6886575" y="4523775"/>
            <a:ext cx="2570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위험</a:t>
            </a:r>
            <a:r>
              <a:rPr lang="en-US" sz="1125" b="0" i="0" u="none" strike="noStrike" cap="none" dirty="0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(Risk) ── </a:t>
            </a:r>
            <a:r>
              <a:rPr lang="en-US" sz="1125" dirty="0" err="1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RBA_prob</a:t>
            </a:r>
            <a:r>
              <a:rPr lang="en-US" sz="1125" b="0" i="0" u="none" strike="noStrike" cap="none" dirty="0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&lt; </a:t>
            </a:r>
            <a:r>
              <a:rPr lang="en-US" sz="1125" dirty="0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40</a:t>
            </a:r>
            <a:endParaRPr dirty="0"/>
          </a:p>
        </p:txBody>
      </p:sp>
      <p:pic>
        <p:nvPicPr>
          <p:cNvPr id="818" name="Google Shape;818;p4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9625" y="2181671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44"/>
          <p:cNvSpPr txBox="1"/>
          <p:nvPr/>
        </p:nvSpPr>
        <p:spPr>
          <a:xfrm>
            <a:off x="809650" y="2496000"/>
            <a:ext cx="49053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07975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31302E"/>
              </a:buClr>
              <a:buSzPts val="1250"/>
              <a:buFont typeface="Wingdings" panose="05000000000000000000" pitchFamily="2" charset="2"/>
              <a:buChar char="§"/>
            </a:pPr>
            <a:r>
              <a:rPr lang="en-US" sz="12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r>
              <a:rPr lang="en-US" sz="12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중심의</a:t>
            </a:r>
            <a:r>
              <a:rPr lang="en-US" sz="12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속성</a:t>
            </a:r>
            <a:r>
              <a:rPr lang="en-US" sz="12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유지</a:t>
            </a:r>
            <a:r>
              <a:rPr lang="en-US" sz="125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상관관계가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상대적으로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높더라도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0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제거</a:t>
            </a:r>
            <a:r>
              <a:rPr lang="en-US" sz="1250" b="0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시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성능이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하락한다면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사용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제거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시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성능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하락이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없는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속성은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제거</a:t>
            </a:r>
            <a:endParaRPr sz="1250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sz="1250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07975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31302E"/>
              </a:buClr>
              <a:buSzPts val="1250"/>
              <a:buFont typeface="Wingdings" panose="05000000000000000000" pitchFamily="2" charset="2"/>
              <a:buChar char="§"/>
            </a:pPr>
            <a:r>
              <a:rPr lang="en-US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타 </a:t>
            </a:r>
            <a:r>
              <a:rPr lang="en-US" sz="12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논문</a:t>
            </a:r>
            <a:r>
              <a:rPr lang="en-US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벤치마킹</a:t>
            </a:r>
            <a:r>
              <a:rPr lang="en-US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속성</a:t>
            </a:r>
            <a:r>
              <a:rPr lang="en-US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확장</a:t>
            </a:r>
            <a:r>
              <a:rPr lang="en-US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현재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수집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데이터셋에는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부재하나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선행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연구에서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보안성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변별력이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검증된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해상도</a:t>
            </a:r>
            <a:r>
              <a:rPr lang="en-US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(Resolution)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125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언어</a:t>
            </a:r>
            <a:r>
              <a:rPr lang="en-US" sz="125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(Language)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속성을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향후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고도화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단계에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추가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반영</a:t>
            </a:r>
            <a:r>
              <a:rPr lang="en-US" sz="1250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50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확정</a:t>
            </a:r>
            <a:endParaRPr sz="1250" dirty="0">
              <a:solidFill>
                <a:srgbClr val="31302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0" name="Google Shape;820;p44"/>
          <p:cNvSpPr txBox="1"/>
          <p:nvPr/>
        </p:nvSpPr>
        <p:spPr>
          <a:xfrm>
            <a:off x="661150" y="6319825"/>
            <a:ext cx="1019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 err="1"/>
              <a:t>신지안</a:t>
            </a:r>
            <a:r>
              <a:rPr lang="en-US" sz="1200" i="1" dirty="0"/>
              <a:t> 외, "</a:t>
            </a:r>
            <a:r>
              <a:rPr lang="en-US" sz="1200" i="1" dirty="0" err="1"/>
              <a:t>키스트로크</a:t>
            </a:r>
            <a:r>
              <a:rPr lang="en-US" sz="1200" i="1" dirty="0"/>
              <a:t> </a:t>
            </a:r>
            <a:r>
              <a:rPr lang="en-US" sz="1200" i="1" dirty="0" err="1"/>
              <a:t>다이나믹스</a:t>
            </a:r>
            <a:r>
              <a:rPr lang="en-US" sz="1200" i="1" dirty="0"/>
              <a:t> 및 </a:t>
            </a:r>
            <a:r>
              <a:rPr lang="en-US" sz="1200" i="1" dirty="0" err="1"/>
              <a:t>적응형</a:t>
            </a:r>
            <a:r>
              <a:rPr lang="en-US" sz="1200" i="1" dirty="0"/>
              <a:t> </a:t>
            </a:r>
            <a:r>
              <a:rPr lang="en-US" sz="1200" i="1" dirty="0" err="1"/>
              <a:t>위험</a:t>
            </a:r>
            <a:r>
              <a:rPr lang="en-US" sz="1200" i="1" dirty="0"/>
              <a:t> </a:t>
            </a:r>
            <a:r>
              <a:rPr lang="en-US" sz="1200" i="1" dirty="0" err="1"/>
              <a:t>기반</a:t>
            </a:r>
            <a:r>
              <a:rPr lang="en-US" sz="1200" i="1" dirty="0"/>
              <a:t> </a:t>
            </a:r>
            <a:r>
              <a:rPr lang="en-US" sz="1200" i="1" dirty="0" err="1"/>
              <a:t>인증방식을</a:t>
            </a:r>
            <a:r>
              <a:rPr lang="en-US" sz="1200" i="1" dirty="0"/>
              <a:t> </a:t>
            </a:r>
            <a:r>
              <a:rPr lang="en-US" sz="1200" i="1" dirty="0" err="1"/>
              <a:t>활용한</a:t>
            </a:r>
            <a:r>
              <a:rPr lang="en-US" sz="1200" i="1" dirty="0"/>
              <a:t> </a:t>
            </a:r>
            <a:r>
              <a:rPr lang="en-US" sz="1200" i="1" dirty="0" err="1"/>
              <a:t>사용자</a:t>
            </a:r>
            <a:r>
              <a:rPr lang="en-US" sz="1200" i="1" dirty="0"/>
              <a:t> </a:t>
            </a:r>
            <a:r>
              <a:rPr lang="en-US" sz="1200" i="1" dirty="0" err="1"/>
              <a:t>인증</a:t>
            </a:r>
            <a:r>
              <a:rPr lang="en-US" sz="1200" i="1" dirty="0"/>
              <a:t> </a:t>
            </a:r>
            <a:r>
              <a:rPr lang="en-US" sz="1200" i="1" dirty="0" err="1"/>
              <a:t>시스템</a:t>
            </a:r>
            <a:r>
              <a:rPr lang="en-US" sz="1200" i="1" dirty="0"/>
              <a:t> </a:t>
            </a:r>
            <a:r>
              <a:rPr lang="en-US" sz="1200" i="1" dirty="0" err="1"/>
              <a:t>구현</a:t>
            </a:r>
            <a:r>
              <a:rPr lang="en-US" sz="1200" i="1" dirty="0"/>
              <a:t>", </a:t>
            </a:r>
            <a:r>
              <a:rPr lang="en-US" sz="1200" i="1" dirty="0" err="1"/>
              <a:t>대한전기학회</a:t>
            </a:r>
            <a:r>
              <a:rPr lang="en-US" sz="1200" i="1" dirty="0"/>
              <a:t> </a:t>
            </a:r>
            <a:r>
              <a:rPr lang="en-US" sz="1200" i="1" dirty="0" err="1"/>
              <a:t>논문지</a:t>
            </a:r>
            <a:r>
              <a:rPr lang="en-US" sz="1200" i="1" dirty="0"/>
              <a:t>, 69권 4호, pp. 267-274, 2020. </a:t>
            </a:r>
            <a:endParaRPr sz="1200" i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02E"/>
        </a:solidFill>
        <a:effectLst/>
      </p:bgPr>
    </p:bg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5"/>
          <p:cNvSpPr txBox="1"/>
          <p:nvPr/>
        </p:nvSpPr>
        <p:spPr>
          <a:xfrm>
            <a:off x="762000" y="2193726"/>
            <a:ext cx="8572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PART 0</a:t>
            </a:r>
            <a:r>
              <a:rPr lang="en-US" sz="1350">
                <a:solidFill>
                  <a:srgbClr val="0075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/>
          </a:p>
        </p:txBody>
      </p:sp>
      <p:sp>
        <p:nvSpPr>
          <p:cNvPr id="826" name="Google Shape;826;p45"/>
          <p:cNvSpPr txBox="1"/>
          <p:nvPr/>
        </p:nvSpPr>
        <p:spPr>
          <a:xfrm>
            <a:off x="762000" y="2536626"/>
            <a:ext cx="900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시스템 아키텍처 및 구현</a:t>
            </a:r>
            <a:endParaRPr/>
          </a:p>
        </p:txBody>
      </p:sp>
      <p:sp>
        <p:nvSpPr>
          <p:cNvPr id="827" name="Google Shape;827;p45"/>
          <p:cNvSpPr/>
          <p:nvPr/>
        </p:nvSpPr>
        <p:spPr>
          <a:xfrm>
            <a:off x="762000" y="4054673"/>
            <a:ext cx="762000" cy="38100"/>
          </a:xfrm>
          <a:prstGeom prst="rect">
            <a:avLst/>
          </a:prstGeom>
          <a:solidFill>
            <a:srgbClr val="0075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5"/>
          <p:cNvSpPr txBox="1"/>
          <p:nvPr/>
        </p:nvSpPr>
        <p:spPr>
          <a:xfrm>
            <a:off x="762000" y="4378523"/>
            <a:ext cx="85725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 </a:t>
            </a:r>
            <a:r>
              <a:rPr lang="en-US" dirty="0" err="1">
                <a:solidFill>
                  <a:schemeClr val="lt1"/>
                </a:solidFill>
              </a:rPr>
              <a:t>시스템</a:t>
            </a:r>
            <a:r>
              <a:rPr lang="en-US" dirty="0">
                <a:solidFill>
                  <a:schemeClr val="lt1"/>
                </a:solidFill>
              </a:rPr>
              <a:t> </a:t>
            </a:r>
            <a:r>
              <a:rPr lang="en-US" dirty="0" err="1">
                <a:solidFill>
                  <a:schemeClr val="lt1"/>
                </a:solidFill>
              </a:rPr>
              <a:t>아키텍처</a:t>
            </a:r>
            <a:r>
              <a:rPr lang="en-US" dirty="0">
                <a:solidFill>
                  <a:schemeClr val="lt1"/>
                </a:solidFill>
              </a:rPr>
              <a:t>, </a:t>
            </a:r>
            <a:r>
              <a:rPr lang="en-US" dirty="0" err="1">
                <a:solidFill>
                  <a:schemeClr val="lt1"/>
                </a:solidFill>
              </a:rPr>
              <a:t>데모</a:t>
            </a:r>
            <a:r>
              <a:rPr lang="en-US" altLang="ko-KR" dirty="0">
                <a:solidFill>
                  <a:schemeClr val="lt1"/>
                </a:solidFill>
              </a:rPr>
              <a:t>, </a:t>
            </a:r>
            <a:r>
              <a:rPr lang="ko-KR" altLang="en-US" dirty="0">
                <a:solidFill>
                  <a:schemeClr val="lt1"/>
                </a:solidFill>
              </a:rPr>
              <a:t>마무리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6"/>
          <p:cNvSpPr txBox="1"/>
          <p:nvPr/>
        </p:nvSpPr>
        <p:spPr>
          <a:xfrm>
            <a:off x="1057275" y="251925"/>
            <a:ext cx="1109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Inter"/>
                <a:ea typeface="Inter"/>
                <a:cs typeface="Inter"/>
                <a:sym typeface="Inter"/>
              </a:rPr>
              <a:t>로그인 Flow Chart</a:t>
            </a:r>
            <a:endParaRPr/>
          </a:p>
        </p:txBody>
      </p:sp>
      <p:pic>
        <p:nvPicPr>
          <p:cNvPr id="834" name="Google Shape;834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4175"/>
            <a:ext cx="3714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3775" y="869750"/>
            <a:ext cx="8804449" cy="57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7"/>
          <p:cNvSpPr txBox="1"/>
          <p:nvPr/>
        </p:nvSpPr>
        <p:spPr>
          <a:xfrm>
            <a:off x="1057275" y="251925"/>
            <a:ext cx="1109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latin typeface="Inter"/>
                <a:ea typeface="Inter"/>
                <a:cs typeface="Inter"/>
                <a:sym typeface="Inter"/>
              </a:rPr>
              <a:t>로그인</a:t>
            </a:r>
            <a:r>
              <a:rPr lang="en-US" sz="2400" b="1" dirty="0">
                <a:latin typeface="Inter"/>
                <a:ea typeface="Inter"/>
                <a:cs typeface="Inter"/>
                <a:sym typeface="Inter"/>
              </a:rPr>
              <a:t> Sequence Diagram</a:t>
            </a:r>
            <a:endParaRPr dirty="0"/>
          </a:p>
        </p:txBody>
      </p:sp>
      <p:pic>
        <p:nvPicPr>
          <p:cNvPr id="841" name="Google Shape;841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4175"/>
            <a:ext cx="3714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47"/>
          <p:cNvPicPr preferRelativeResize="0"/>
          <p:nvPr/>
        </p:nvPicPr>
        <p:blipFill rotWithShape="1">
          <a:blip r:embed="rId4">
            <a:alphaModFix/>
          </a:blip>
          <a:srcRect b="45587"/>
          <a:stretch/>
        </p:blipFill>
        <p:spPr>
          <a:xfrm>
            <a:off x="1833325" y="818075"/>
            <a:ext cx="8525351" cy="5849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/>
        </p:nvSpPr>
        <p:spPr>
          <a:xfrm>
            <a:off x="1057275" y="251925"/>
            <a:ext cx="1109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Inter"/>
                <a:ea typeface="Inter"/>
                <a:cs typeface="Inter"/>
                <a:sym typeface="Inter"/>
              </a:rPr>
              <a:t>로그인 Sequence Diagram</a:t>
            </a:r>
            <a:endParaRPr/>
          </a:p>
        </p:txBody>
      </p:sp>
      <p:pic>
        <p:nvPicPr>
          <p:cNvPr id="848" name="Google Shape;848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4175"/>
            <a:ext cx="3714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48"/>
          <p:cNvPicPr preferRelativeResize="0"/>
          <p:nvPr/>
        </p:nvPicPr>
        <p:blipFill rotWithShape="1">
          <a:blip r:embed="rId4">
            <a:alphaModFix/>
          </a:blip>
          <a:srcRect t="53532"/>
          <a:stretch/>
        </p:blipFill>
        <p:spPr>
          <a:xfrm>
            <a:off x="1217610" y="773115"/>
            <a:ext cx="9756774" cy="57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853">
          <a:extLst>
            <a:ext uri="{FF2B5EF4-FFF2-40B4-BE49-F238E27FC236}">
              <a16:creationId xmlns:a16="http://schemas.microsoft.com/office/drawing/2014/main" id="{535BB926-C73B-C982-2169-752EC4CCB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9">
            <a:extLst>
              <a:ext uri="{FF2B5EF4-FFF2-40B4-BE49-F238E27FC236}">
                <a16:creationId xmlns:a16="http://schemas.microsoft.com/office/drawing/2014/main" id="{7686AB05-0D29-A4CE-0997-9F4D639E310A}"/>
              </a:ext>
            </a:extLst>
          </p:cNvPr>
          <p:cNvSpPr txBox="1"/>
          <p:nvPr/>
        </p:nvSpPr>
        <p:spPr>
          <a:xfrm>
            <a:off x="571500" y="571500"/>
            <a:ext cx="116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20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회원가입 프로필 등록</a:t>
            </a:r>
            <a:endParaRPr lang="ko-KR" altLang="en-US" sz="3200" dirty="0"/>
          </a:p>
        </p:txBody>
      </p:sp>
      <p:pic>
        <p:nvPicPr>
          <p:cNvPr id="3" name="Google Shape;875;p51" descr="image.png">
            <a:extLst>
              <a:ext uri="{FF2B5EF4-FFF2-40B4-BE49-F238E27FC236}">
                <a16:creationId xmlns:a16="http://schemas.microsoft.com/office/drawing/2014/main" id="{CDE7D667-50E9-248F-D151-7DBD5A8522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907" y="1545784"/>
            <a:ext cx="4578239" cy="376643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78;p51">
            <a:extLst>
              <a:ext uri="{FF2B5EF4-FFF2-40B4-BE49-F238E27FC236}">
                <a16:creationId xmlns:a16="http://schemas.microsoft.com/office/drawing/2014/main" id="{1C0D30BC-969D-DC67-3E37-53C9A34F9EEE}"/>
              </a:ext>
            </a:extLst>
          </p:cNvPr>
          <p:cNvSpPr txBox="1"/>
          <p:nvPr/>
        </p:nvSpPr>
        <p:spPr>
          <a:xfrm>
            <a:off x="885825" y="1891404"/>
            <a:ext cx="494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79;p51">
            <a:extLst>
              <a:ext uri="{FF2B5EF4-FFF2-40B4-BE49-F238E27FC236}">
                <a16:creationId xmlns:a16="http://schemas.microsoft.com/office/drawing/2014/main" id="{8E19CDD0-85BF-343C-72DB-0107D8E27EAC}"/>
              </a:ext>
            </a:extLst>
          </p:cNvPr>
          <p:cNvSpPr txBox="1"/>
          <p:nvPr/>
        </p:nvSpPr>
        <p:spPr>
          <a:xfrm>
            <a:off x="1022931" y="1755605"/>
            <a:ext cx="4297215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50" b="1" dirty="0">
                <a:latin typeface="Inter" panose="020B0604020202020204" charset="0"/>
              </a:rPr>
              <a:t>수집 데이터</a:t>
            </a:r>
            <a:endParaRPr lang="ko-KR" altLang="en-US" sz="1450" dirty="0">
              <a:latin typeface="Inter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>
                <a:latin typeface="Inter" panose="020B0604020202020204" charset="0"/>
                <a:ea typeface="Inter" panose="020B0604020202020204" charset="0"/>
              </a:rPr>
              <a:t>ID / Password</a:t>
            </a:r>
            <a:endParaRPr lang="ko-KR" altLang="en-US" sz="1450" dirty="0">
              <a:latin typeface="Inter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>
                <a:latin typeface="Inter" panose="020B0604020202020204" charset="0"/>
                <a:ea typeface="Inter" panose="020B0604020202020204" charset="0"/>
              </a:rPr>
              <a:t>Key</a:t>
            </a:r>
            <a:r>
              <a:rPr lang="ko-KR" altLang="en-US" sz="1450" dirty="0">
                <a:latin typeface="Inter" panose="020B0604020202020204" charset="0"/>
              </a:rPr>
              <a:t> </a:t>
            </a:r>
            <a:r>
              <a:rPr lang="en-US" altLang="ko-KR" sz="1450" dirty="0">
                <a:latin typeface="Inter" panose="020B0604020202020204" charset="0"/>
                <a:ea typeface="Inter" panose="020B0604020202020204" charset="0"/>
              </a:rPr>
              <a:t>Down</a:t>
            </a:r>
            <a:r>
              <a:rPr lang="ko-KR" altLang="en-US" sz="1450" dirty="0">
                <a:latin typeface="Inter" panose="020B0604020202020204" charset="0"/>
              </a:rPr>
              <a:t> </a:t>
            </a:r>
            <a:r>
              <a:rPr lang="en-US" altLang="ko-KR" sz="1450" dirty="0">
                <a:latin typeface="Inter" panose="020B0604020202020204" charset="0"/>
                <a:ea typeface="Inter" panose="020B0604020202020204" charset="0"/>
              </a:rPr>
              <a:t>· Key</a:t>
            </a:r>
            <a:r>
              <a:rPr lang="ko-KR" altLang="en-US" sz="1450" dirty="0">
                <a:latin typeface="Inter" panose="020B0604020202020204" charset="0"/>
              </a:rPr>
              <a:t> </a:t>
            </a:r>
            <a:r>
              <a:rPr lang="en-US" altLang="ko-KR" sz="1450" dirty="0">
                <a:latin typeface="Inter" panose="020B0604020202020204" charset="0"/>
                <a:ea typeface="Inter" panose="020B0604020202020204" charset="0"/>
              </a:rPr>
              <a:t>Up</a:t>
            </a:r>
            <a:r>
              <a:rPr lang="ko-KR" altLang="en-US" sz="1450" dirty="0">
                <a:latin typeface="Inter" panose="020B0604020202020204" charset="0"/>
              </a:rPr>
              <a:t> </a:t>
            </a:r>
            <a:r>
              <a:rPr lang="en-US" altLang="ko-KR" sz="1450" dirty="0">
                <a:latin typeface="Inter" panose="020B0604020202020204" charset="0"/>
                <a:ea typeface="Inter" panose="020B0604020202020204" charset="0"/>
              </a:rPr>
              <a:t>Event</a:t>
            </a:r>
            <a:endParaRPr lang="ko-KR" altLang="en-US" sz="1450" dirty="0">
              <a:latin typeface="Inter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>
                <a:latin typeface="Inter" panose="020B0604020202020204" charset="0"/>
              </a:rPr>
              <a:t>환경 정보</a:t>
            </a:r>
            <a:r>
              <a:rPr lang="en-US" altLang="ko-KR" sz="1450" dirty="0">
                <a:latin typeface="Inter" panose="020B0604020202020204" charset="0"/>
                <a:ea typeface="Inter" panose="020B0604020202020204" charset="0"/>
              </a:rPr>
              <a:t>(IP, OS, Browser</a:t>
            </a:r>
            <a:r>
              <a:rPr lang="ko-KR" altLang="en-US" sz="1450" dirty="0">
                <a:latin typeface="Inter" panose="020B0604020202020204" charset="0"/>
              </a:rPr>
              <a:t> 등</a:t>
            </a:r>
            <a:r>
              <a:rPr lang="en-US" altLang="ko-KR" sz="1450" dirty="0">
                <a:latin typeface="Inter" panose="020B0604020202020204" charset="0"/>
                <a:ea typeface="Inter" panose="020B0604020202020204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50" dirty="0">
              <a:latin typeface="Inter" panose="020B0604020202020204" charset="0"/>
              <a:ea typeface="Inter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450" b="1" dirty="0">
                <a:latin typeface="Inter" panose="020B0604020202020204" charset="0"/>
              </a:rPr>
              <a:t>프로필 생성</a:t>
            </a:r>
            <a:endParaRPr lang="ko-KR" altLang="en-US" sz="1450" dirty="0">
              <a:latin typeface="Inter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>
                <a:latin typeface="Inter" panose="020B0604020202020204" charset="0"/>
              </a:rPr>
              <a:t>비밀번호 </a:t>
            </a:r>
            <a:r>
              <a:rPr lang="en-US" altLang="ko-KR" sz="1450" dirty="0">
                <a:latin typeface="Inter" panose="020B0604020202020204" charset="0"/>
                <a:ea typeface="Inter" panose="020B0604020202020204" charset="0"/>
              </a:rPr>
              <a:t>15</a:t>
            </a:r>
            <a:r>
              <a:rPr lang="ko-KR" altLang="en-US" sz="1450" dirty="0">
                <a:latin typeface="Inter" panose="020B0604020202020204" charset="0"/>
              </a:rPr>
              <a:t>회 반복 입력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>
                <a:latin typeface="Inter" panose="020B0604020202020204" charset="0"/>
                <a:ea typeface="Inter" panose="020B0604020202020204" charset="0"/>
              </a:rPr>
              <a:t>Keystroke</a:t>
            </a:r>
            <a:r>
              <a:rPr lang="ko-KR" altLang="en-US" sz="1450" dirty="0">
                <a:latin typeface="Inter" panose="020B0604020202020204" charset="0"/>
              </a:rPr>
              <a:t> </a:t>
            </a:r>
            <a:r>
              <a:rPr lang="en-US" altLang="ko-KR" sz="1450" dirty="0">
                <a:latin typeface="Inter" panose="020B0604020202020204" charset="0"/>
                <a:ea typeface="Inter" panose="020B0604020202020204" charset="0"/>
              </a:rPr>
              <a:t>Profile</a:t>
            </a:r>
            <a:r>
              <a:rPr lang="ko-KR" altLang="en-US" sz="1450" dirty="0">
                <a:latin typeface="Inter" panose="020B0604020202020204" charset="0"/>
              </a:rPr>
              <a:t> 생성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>
                <a:latin typeface="Inter" panose="020B0604020202020204" charset="0"/>
              </a:rPr>
              <a:t>사용자별 기준 패턴 저장</a:t>
            </a:r>
            <a:endParaRPr lang="en-US" altLang="ko-KR" sz="1450" dirty="0">
              <a:latin typeface="Inter" panose="020B0604020202020204" charset="0"/>
              <a:ea typeface="Inter" panose="020B060402020202020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350" dirty="0">
              <a:solidFill>
                <a:srgbClr val="615D59"/>
              </a:solidFill>
              <a:latin typeface="Inter" panose="020B0604020202020204" charset="0"/>
              <a:ea typeface="Inter"/>
              <a:cs typeface="Inter"/>
              <a:sym typeface="Inter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2E98F56-8A86-CCB4-A207-90EB2F330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991" y="1120219"/>
            <a:ext cx="5559102" cy="461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416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Google Shape;855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577075"/>
            <a:ext cx="5334000" cy="4161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4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프론트엔드</a:t>
            </a:r>
            <a:r>
              <a:rPr lang="en-US" sz="3000" b="1" i="0" u="none" strike="noStrike" cap="none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데이터 </a:t>
            </a:r>
            <a:r>
              <a:rPr lang="en-US" sz="3000" b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수집</a:t>
            </a:r>
            <a:endParaRPr/>
          </a:p>
        </p:txBody>
      </p:sp>
      <p:sp>
        <p:nvSpPr>
          <p:cNvPr id="858" name="Google Shape;858;p49"/>
          <p:cNvSpPr txBox="1"/>
          <p:nvPr/>
        </p:nvSpPr>
        <p:spPr>
          <a:xfrm>
            <a:off x="6600825" y="1891404"/>
            <a:ext cx="49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키스트로크</a:t>
            </a:r>
            <a:r>
              <a:rPr lang="ko-KR" altLang="en-US" sz="18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특징점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(H, DD, UD)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추출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59" name="Google Shape;859;p49"/>
          <p:cNvSpPr txBox="1"/>
          <p:nvPr/>
        </p:nvSpPr>
        <p:spPr>
          <a:xfrm>
            <a:off x="6600825" y="2310504"/>
            <a:ext cx="47052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KeyDown과</a:t>
            </a:r>
            <a:r>
              <a:rPr lang="en-US" sz="135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KeyUp</a:t>
            </a:r>
            <a:r>
              <a:rPr lang="en-US" sz="135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맵을</a:t>
            </a:r>
            <a:r>
              <a:rPr lang="en-US" sz="135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교차</a:t>
            </a:r>
            <a:r>
              <a:rPr lang="en-US" sz="135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분석하여</a:t>
            </a:r>
            <a:r>
              <a:rPr lang="en-US" sz="135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CMU </a:t>
            </a:r>
            <a:r>
              <a:rPr lang="en-US" sz="135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벤치마크</a:t>
            </a:r>
            <a:r>
              <a:rPr lang="en-US" sz="135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35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규격의</a:t>
            </a:r>
            <a:r>
              <a:rPr lang="en-US" sz="135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r>
              <a:rPr lang="en-US" sz="135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벡터를</a:t>
            </a:r>
            <a:r>
              <a:rPr lang="en-US" sz="135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생성합니다</a:t>
            </a:r>
            <a:r>
              <a:rPr lang="en-US" sz="135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860" name="Google Shape;860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00825" y="1919979"/>
            <a:ext cx="200025" cy="22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1" name="Google Shape;861;p49"/>
          <p:cNvGraphicFramePr/>
          <p:nvPr>
            <p:extLst>
              <p:ext uri="{D42A27DB-BD31-4B8C-83A1-F6EECF244321}">
                <p14:modId xmlns:p14="http://schemas.microsoft.com/office/powerpoint/2010/main" val="1720506329"/>
              </p:ext>
            </p:extLst>
          </p:nvPr>
        </p:nvGraphicFramePr>
        <p:xfrm>
          <a:off x="6419775" y="2972012"/>
          <a:ext cx="5067300" cy="2428900"/>
        </p:xfrm>
        <a:graphic>
          <a:graphicData uri="http://schemas.openxmlformats.org/drawingml/2006/table">
            <a:tbl>
              <a:tblPr firstRow="1" bandRow="1">
                <a:noFill/>
                <a:tableStyleId>{B6E0D2BD-2155-4C02-B294-2F15D94BEF02}</a:tableStyleId>
              </a:tblPr>
              <a:tblGrid>
                <a:gridCol w="152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>
                          <a:solidFill>
                            <a:srgbClr val="0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속성 구분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 dirty="0" err="1">
                          <a:solidFill>
                            <a:srgbClr val="0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상세</a:t>
                      </a:r>
                      <a:r>
                        <a:rPr lang="en-US" sz="1225" b="0" i="0" u="none" strike="noStrike" cap="none" dirty="0">
                          <a:solidFill>
                            <a:srgbClr val="0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0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정의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1" i="0" u="none" strike="noStrike" cap="none" dirty="0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</a:t>
                      </a:r>
                      <a:r>
                        <a:rPr lang="en-US" sz="1225" b="0" i="0" u="none" strike="noStrike" cap="none" dirty="0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1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Hold Time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하나의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특정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키를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누르고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있는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시간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Keydown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to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Keyup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1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</a:t>
                      </a:r>
                      <a:r>
                        <a:rPr lang="en-US" sz="1225" b="1" i="0" u="none" strike="noStrike" cap="none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</a:t>
                      </a:r>
                      <a:r>
                        <a:rPr lang="en-US" sz="1225" b="1" i="0" u="none" strike="noStrike" cap="none">
                          <a:solidFill>
                            <a:srgbClr val="4A86E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1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Keydown-Keydown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앞의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키를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누른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시점부터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다음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키를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누른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시점까지의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간격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1" i="0" u="none" strike="noStrike" cap="none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UD</a:t>
                      </a:r>
                      <a:r>
                        <a:rPr lang="en-US" sz="1225" b="0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1" i="0" u="none" strike="noStrike" cap="none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Keyup-Keydown</a:t>
                      </a:r>
                      <a:endParaRPr sz="15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앞의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키를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뗀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시점부터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다음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키를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누른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시점까지의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물리적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공백</a:t>
                      </a:r>
                      <a:r>
                        <a:rPr lang="en-US" sz="1225" b="0" i="0" u="none" strike="noStrike" cap="none" dirty="0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25" b="0" i="0" u="none" strike="noStrike" cap="none" dirty="0" err="1">
                          <a:solidFill>
                            <a:srgbClr val="31302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시간</a:t>
                      </a:r>
                      <a:endParaRPr sz="15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Google Shape;854;p49" descr="image.png">
            <a:extLst>
              <a:ext uri="{FF2B5EF4-FFF2-40B4-BE49-F238E27FC236}">
                <a16:creationId xmlns:a16="http://schemas.microsoft.com/office/drawing/2014/main" id="{D8EC04E5-8206-C680-ED46-FF7D54935EF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025" y="1577074"/>
            <a:ext cx="5334000" cy="47094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072764-3CE7-8D93-7525-687C4795AAB3}"/>
              </a:ext>
            </a:extLst>
          </p:cNvPr>
          <p:cNvSpPr txBox="1"/>
          <p:nvPr/>
        </p:nvSpPr>
        <p:spPr>
          <a:xfrm>
            <a:off x="779978" y="2059385"/>
            <a:ext cx="4933455" cy="420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50" dirty="0">
                <a:latin typeface="Inter" panose="020B0600000101010101" charset="0"/>
              </a:rPr>
              <a:t>IP </a:t>
            </a:r>
            <a:endParaRPr lang="en-US" altLang="ko-KR" sz="1450" dirty="0">
              <a:latin typeface="Inter" panose="020B0600000101010101" charset="0"/>
              <a:ea typeface="Inter" panose="020B0600000101010101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50" dirty="0" err="1">
                <a:latin typeface="Inter" panose="020B0600000101010101" charset="0"/>
              </a:rPr>
              <a:t>Address</a:t>
            </a:r>
            <a:r>
              <a:rPr lang="ko-KR" altLang="ko-KR" sz="1450" dirty="0">
                <a:latin typeface="Inter" panose="020B0600000101010101" charset="0"/>
              </a:rPr>
              <a:t> </a:t>
            </a:r>
            <a:endParaRPr lang="en-US" altLang="ko-KR" sz="1450" dirty="0">
              <a:latin typeface="Inter" panose="020B0600000101010101" charset="0"/>
              <a:ea typeface="Inter" panose="020B0600000101010101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50" dirty="0" err="1">
                <a:latin typeface="Inter" panose="020B0600000101010101" charset="0"/>
              </a:rPr>
              <a:t>Country</a:t>
            </a:r>
            <a:r>
              <a:rPr lang="ko-KR" altLang="ko-KR" sz="1450" dirty="0">
                <a:latin typeface="Inter" panose="020B0600000101010101" charset="0"/>
              </a:rPr>
              <a:t> </a:t>
            </a:r>
            <a:endParaRPr lang="en-US" altLang="ko-KR" sz="1450" dirty="0">
              <a:latin typeface="Inter" panose="020B0600000101010101" charset="0"/>
              <a:ea typeface="Inter" panose="020B0600000101010101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50" dirty="0" err="1">
                <a:latin typeface="Inter" panose="020B0600000101010101" charset="0"/>
              </a:rPr>
              <a:t>Region</a:t>
            </a:r>
            <a:endParaRPr lang="en-US" altLang="ko-KR" sz="1450" dirty="0">
              <a:latin typeface="Inter" panose="020B0600000101010101" charset="0"/>
              <a:ea typeface="Inter" panose="020B0600000101010101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50" dirty="0" err="1">
                <a:latin typeface="Inter" panose="020B0600000101010101" charset="0"/>
              </a:rPr>
              <a:t>City</a:t>
            </a:r>
            <a:endParaRPr lang="en-US" altLang="ko-KR" sz="1450" dirty="0">
              <a:latin typeface="Inter" panose="020B0600000101010101" charset="0"/>
              <a:ea typeface="Inter" panose="020B0600000101010101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50" dirty="0">
                <a:latin typeface="Inter" panose="020B0600000101010101" charset="0"/>
              </a:rPr>
              <a:t>ASN(통신사)</a:t>
            </a:r>
            <a:endParaRPr lang="en-US" altLang="ko-KR" sz="1450" dirty="0">
              <a:latin typeface="Inter" panose="020B0600000101010101" charset="0"/>
              <a:ea typeface="Inter" panose="020B0600000101010101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50" dirty="0" err="1">
                <a:latin typeface="Inter" panose="020B0600000101010101" charset="0"/>
              </a:rPr>
              <a:t>Browser</a:t>
            </a:r>
            <a:endParaRPr lang="en-US" altLang="ko-KR" sz="1450" dirty="0">
              <a:latin typeface="Inter" panose="020B0600000101010101" charset="0"/>
              <a:ea typeface="Inter" panose="020B0600000101010101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50" dirty="0" err="1">
                <a:latin typeface="Inter" panose="020B0600000101010101" charset="0"/>
              </a:rPr>
              <a:t>O</a:t>
            </a:r>
            <a:r>
              <a:rPr lang="en-US" altLang="ko-KR" sz="1450" dirty="0">
                <a:latin typeface="Inter" panose="020B0600000101010101" charset="0"/>
                <a:ea typeface="Inter" panose="020B0600000101010101" charset="0"/>
              </a:rPr>
              <a:t>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50" dirty="0" err="1">
                <a:latin typeface="Inter" panose="020B0600000101010101" charset="0"/>
              </a:rPr>
              <a:t>Device</a:t>
            </a:r>
            <a:r>
              <a:rPr lang="ko-KR" altLang="ko-KR" sz="1450" dirty="0">
                <a:latin typeface="Inter" panose="020B0600000101010101" charset="0"/>
              </a:rPr>
              <a:t> </a:t>
            </a:r>
            <a:r>
              <a:rPr lang="ko-KR" altLang="ko-KR" sz="1450" dirty="0" err="1">
                <a:latin typeface="Inter" panose="020B0600000101010101" charset="0"/>
              </a:rPr>
              <a:t>Type</a:t>
            </a:r>
            <a:r>
              <a:rPr lang="ko-KR" altLang="ko-KR" sz="1450" dirty="0">
                <a:latin typeface="Inter" panose="020B0600000101010101" charset="0"/>
              </a:rPr>
              <a:t> </a:t>
            </a:r>
            <a:endParaRPr lang="en-US" altLang="ko-KR" sz="1450" dirty="0">
              <a:latin typeface="Inter" panose="020B0600000101010101" charset="0"/>
              <a:ea typeface="Inter" panose="020B0600000101010101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50" dirty="0" err="1">
                <a:latin typeface="Inter" panose="020B0600000101010101" charset="0"/>
              </a:rPr>
              <a:t>Language</a:t>
            </a:r>
            <a:r>
              <a:rPr lang="ko-KR" altLang="ko-KR" sz="1450" dirty="0">
                <a:latin typeface="Inter" panose="020B0600000101010101" charset="0"/>
              </a:rPr>
              <a:t> </a:t>
            </a:r>
            <a:endParaRPr lang="en-US" altLang="ko-KR" sz="1450" dirty="0">
              <a:latin typeface="Inter" panose="020B0600000101010101" charset="0"/>
              <a:ea typeface="Inter" panose="020B0600000101010101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50" dirty="0" err="1">
                <a:latin typeface="Inter" panose="020B0600000101010101" charset="0"/>
              </a:rPr>
              <a:t>Resolution</a:t>
            </a:r>
            <a:r>
              <a:rPr lang="en-US" altLang="ko-KR" sz="1450" dirty="0">
                <a:latin typeface="Inter" panose="020B0600000101010101" charset="0"/>
                <a:ea typeface="Inter" panose="020B0600000101010101" charset="0"/>
              </a:rPr>
              <a:t>(</a:t>
            </a:r>
            <a:r>
              <a:rPr lang="ko-KR" altLang="en-US" sz="1450" dirty="0">
                <a:latin typeface="Inter" panose="020B0600000101010101" charset="0"/>
              </a:rPr>
              <a:t>해상도</a:t>
            </a:r>
            <a:r>
              <a:rPr lang="en-US" altLang="ko-KR" sz="1450" dirty="0">
                <a:latin typeface="Inter" panose="020B0600000101010101" charset="0"/>
                <a:ea typeface="Inter" panose="020B0600000101010101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1450" dirty="0">
                <a:latin typeface="Inter" panose="020B0600000101010101" charset="0"/>
              </a:rPr>
              <a:t>RTT(Network </a:t>
            </a:r>
            <a:r>
              <a:rPr lang="ko-KR" altLang="ko-KR" sz="1450" dirty="0" err="1">
                <a:latin typeface="Inter" panose="020B0600000101010101" charset="0"/>
              </a:rPr>
              <a:t>Delay</a:t>
            </a:r>
            <a:r>
              <a:rPr lang="ko-KR" altLang="ko-KR" sz="1450" dirty="0"/>
              <a:t>)</a:t>
            </a:r>
            <a:endParaRPr lang="ko-KR" altLang="ko-KR" sz="1450" dirty="0">
              <a:latin typeface="Inter" panose="020B0600000101010101" charset="0"/>
            </a:endParaRPr>
          </a:p>
        </p:txBody>
      </p:sp>
      <p:sp>
        <p:nvSpPr>
          <p:cNvPr id="7" name="Google Shape;858;p49">
            <a:extLst>
              <a:ext uri="{FF2B5EF4-FFF2-40B4-BE49-F238E27FC236}">
                <a16:creationId xmlns:a16="http://schemas.microsoft.com/office/drawing/2014/main" id="{E46AAE4F-71F5-A8D4-9064-46A74FE7DC92}"/>
              </a:ext>
            </a:extLst>
          </p:cNvPr>
          <p:cNvSpPr txBox="1"/>
          <p:nvPr/>
        </p:nvSpPr>
        <p:spPr>
          <a:xfrm>
            <a:off x="768150" y="1790589"/>
            <a:ext cx="49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RBA </a:t>
            </a:r>
            <a:r>
              <a:rPr lang="ko-KR" altLang="en-US" sz="18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환경 정보 수집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865">
          <a:extLst>
            <a:ext uri="{FF2B5EF4-FFF2-40B4-BE49-F238E27FC236}">
              <a16:creationId xmlns:a16="http://schemas.microsoft.com/office/drawing/2014/main" id="{4294B5DB-0AA2-93AE-5626-70D98087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68;p50">
            <a:extLst>
              <a:ext uri="{FF2B5EF4-FFF2-40B4-BE49-F238E27FC236}">
                <a16:creationId xmlns:a16="http://schemas.microsoft.com/office/drawing/2014/main" id="{233FD02E-0344-E129-3A82-C4D7CC7CB420}"/>
              </a:ext>
            </a:extLst>
          </p:cNvPr>
          <p:cNvSpPr txBox="1"/>
          <p:nvPr/>
        </p:nvSpPr>
        <p:spPr>
          <a:xfrm>
            <a:off x="548737" y="2366425"/>
            <a:ext cx="560070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Chart.js </a:t>
            </a:r>
            <a:r>
              <a:rPr lang="en-US" sz="19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19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리듬</a:t>
            </a:r>
            <a:r>
              <a:rPr lang="en-US" sz="19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대조</a:t>
            </a:r>
            <a:endParaRPr sz="1900" dirty="0"/>
          </a:p>
        </p:txBody>
      </p:sp>
      <p:sp>
        <p:nvSpPr>
          <p:cNvPr id="5" name="Google Shape;869;p50">
            <a:extLst>
              <a:ext uri="{FF2B5EF4-FFF2-40B4-BE49-F238E27FC236}">
                <a16:creationId xmlns:a16="http://schemas.microsoft.com/office/drawing/2014/main" id="{399FC97B-C973-5D59-C8FB-4423B81CD71D}"/>
              </a:ext>
            </a:extLst>
          </p:cNvPr>
          <p:cNvSpPr txBox="1"/>
          <p:nvPr/>
        </p:nvSpPr>
        <p:spPr>
          <a:xfrm>
            <a:off x="571500" y="2712774"/>
            <a:ext cx="5334000" cy="63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• </a:t>
            </a:r>
            <a:r>
              <a:rPr lang="en-US" sz="13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서버에서</a:t>
            </a:r>
            <a:r>
              <a:rPr lang="en-US" sz="13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불러온</a:t>
            </a:r>
            <a:r>
              <a:rPr lang="en-US" sz="13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등록</a:t>
            </a:r>
            <a:r>
              <a:rPr lang="en-US" sz="13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평균선</a:t>
            </a:r>
            <a:r>
              <a:rPr lang="en-US" sz="13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(Purple)</a:t>
            </a:r>
            <a:r>
              <a:rPr lang="ko-KR" altLang="en-US" sz="13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과</a:t>
            </a:r>
            <a:r>
              <a:rPr lang="en-US" sz="13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altLang="ko-KR" sz="1350" b="1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사용자의</a:t>
            </a:r>
            <a:r>
              <a:rPr lang="en-US" altLang="ko-KR" sz="1350" b="1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altLang="ko-KR" sz="1350" b="1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현재</a:t>
            </a:r>
            <a:r>
              <a:rPr lang="en-US" altLang="ko-KR" sz="1350" b="1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altLang="ko-KR" sz="1350" b="1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타건선</a:t>
            </a:r>
            <a:r>
              <a:rPr lang="en-US" altLang="ko-KR" sz="1350" b="1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(Blue)</a:t>
            </a:r>
            <a:r>
              <a:rPr lang="en-US" sz="13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을 Scatter </a:t>
            </a:r>
            <a:r>
              <a:rPr lang="en-US" sz="13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Chart로</a:t>
            </a:r>
            <a:r>
              <a:rPr lang="en-US" sz="1350" b="1" i="0" u="none" strike="noStrike" cap="none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시각화</a:t>
            </a:r>
            <a:endParaRPr b="1" dirty="0"/>
          </a:p>
        </p:txBody>
      </p:sp>
      <p:sp>
        <p:nvSpPr>
          <p:cNvPr id="7" name="Google Shape;870;p50">
            <a:extLst>
              <a:ext uri="{FF2B5EF4-FFF2-40B4-BE49-F238E27FC236}">
                <a16:creationId xmlns:a16="http://schemas.microsoft.com/office/drawing/2014/main" id="{B8092E60-C3C5-A887-5315-D28B97CB50A4}"/>
              </a:ext>
            </a:extLst>
          </p:cNvPr>
          <p:cNvSpPr txBox="1"/>
          <p:nvPr/>
        </p:nvSpPr>
        <p:spPr>
          <a:xfrm>
            <a:off x="571500" y="4365314"/>
            <a:ext cx="59209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dirty="0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• </a:t>
            </a:r>
            <a:r>
              <a:rPr lang="en-US" b="1" i="0" u="none" strike="noStrike" cap="none" dirty="0" err="1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전체</a:t>
            </a:r>
            <a:r>
              <a:rPr lang="en-US" b="1" i="0" u="none" strike="noStrike" cap="none" dirty="0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입력</a:t>
            </a:r>
            <a:r>
              <a:rPr lang="en-US" b="1" i="0" u="none" strike="noStrike" cap="none" dirty="0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시간을</a:t>
            </a:r>
            <a:r>
              <a:rPr lang="en-US" b="1" i="0" u="none" strike="noStrike" cap="none" dirty="0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 0.0 ~ 1.0 </a:t>
            </a:r>
            <a:r>
              <a:rPr lang="en-US" b="1" i="0" u="none" strike="noStrike" cap="none" dirty="0" err="1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범위로</a:t>
            </a:r>
            <a:r>
              <a:rPr lang="en-US" b="1" i="0" u="none" strike="noStrike" cap="none" dirty="0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압축하여</a:t>
            </a:r>
            <a:r>
              <a:rPr lang="en-US" b="1" i="0" u="none" strike="noStrike" cap="none" dirty="0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시각적</a:t>
            </a:r>
            <a:r>
              <a:rPr lang="en-US" b="1" i="0" u="none" strike="noStrike" cap="none" dirty="0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비교</a:t>
            </a:r>
            <a:r>
              <a:rPr lang="en-US" b="1" i="0" u="none" strike="noStrike" cap="none" dirty="0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용이성</a:t>
            </a:r>
            <a:r>
              <a:rPr lang="en-US" b="1" i="0" u="none" strike="noStrike" cap="none" dirty="0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615D59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확보</a:t>
            </a:r>
            <a:endParaRPr lang="en-US" b="1" dirty="0">
              <a:solidFill>
                <a:srgbClr val="615D59"/>
              </a:solidFill>
              <a:latin typeface="Inter" panose="020B0600000101010101" charset="0"/>
              <a:ea typeface="Inter" panose="020B0600000101010101" charset="0"/>
              <a:cs typeface="Inter"/>
              <a:sym typeface="Inter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15A578B-368D-2E38-CDE5-B79542411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373" y="1718631"/>
            <a:ext cx="5575914" cy="40381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7B339F-A3E3-7FD1-04B6-1B509D2997D0}"/>
              </a:ext>
            </a:extLst>
          </p:cNvPr>
          <p:cNvSpPr txBox="1"/>
          <p:nvPr/>
        </p:nvSpPr>
        <p:spPr>
          <a:xfrm>
            <a:off x="433519" y="3887187"/>
            <a:ext cx="6097836" cy="476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00" b="1" i="0" u="none" strike="noStrike" cap="none" dirty="0">
                <a:solidFill>
                  <a:schemeClr val="tx1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Time Rate </a:t>
            </a:r>
            <a:r>
              <a:rPr lang="en-US" altLang="ko-KR" sz="1900" b="1" i="0" u="none" strike="noStrike" cap="none" dirty="0" err="1">
                <a:solidFill>
                  <a:schemeClr val="tx1"/>
                </a:solidFill>
                <a:latin typeface="Inter" panose="020B0600000101010101" charset="0"/>
                <a:ea typeface="Inter" panose="020B0600000101010101" charset="0"/>
                <a:cs typeface="Inter"/>
                <a:sym typeface="Inter"/>
              </a:rPr>
              <a:t>정규화</a:t>
            </a:r>
            <a:endParaRPr lang="en-US" altLang="ko-KR" sz="1900" b="1" dirty="0">
              <a:solidFill>
                <a:schemeClr val="tx1"/>
              </a:solidFill>
              <a:latin typeface="Inter" panose="020B0600000101010101" charset="0"/>
              <a:ea typeface="Inter" panose="020B0600000101010101" charset="0"/>
              <a:cs typeface="Inter"/>
              <a:sym typeface="Inter"/>
            </a:endParaRPr>
          </a:p>
        </p:txBody>
      </p:sp>
      <p:sp>
        <p:nvSpPr>
          <p:cNvPr id="17" name="Google Shape;867;p50">
            <a:extLst>
              <a:ext uri="{FF2B5EF4-FFF2-40B4-BE49-F238E27FC236}">
                <a16:creationId xmlns:a16="http://schemas.microsoft.com/office/drawing/2014/main" id="{1560232F-EC00-D8AA-7914-E98452048189}"/>
              </a:ext>
            </a:extLst>
          </p:cNvPr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실시간</a:t>
            </a:r>
            <a:r>
              <a:rPr lang="en-US" sz="30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타건</a:t>
            </a:r>
            <a:r>
              <a:rPr lang="en-US" sz="30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리듬</a:t>
            </a:r>
            <a:r>
              <a:rPr lang="en-US" sz="3000" b="1" i="0" u="none" strike="noStrike" cap="none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00" b="1" i="0" u="none" strike="noStrike" cap="none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시각화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96499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77074"/>
            <a:ext cx="5334000" cy="35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577075"/>
            <a:ext cx="5334000" cy="381696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5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00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백엔드</a:t>
            </a:r>
            <a:r>
              <a:rPr lang="ko-KR" altLang="en-US" sz="3000" b="1" dirty="0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 데이터 저장</a:t>
            </a:r>
            <a:endParaRPr lang="ko-KR" altLang="en-US" sz="3200" dirty="0"/>
          </a:p>
        </p:txBody>
      </p:sp>
      <p:sp>
        <p:nvSpPr>
          <p:cNvPr id="878" name="Google Shape;878;p51"/>
          <p:cNvSpPr txBox="1"/>
          <p:nvPr/>
        </p:nvSpPr>
        <p:spPr>
          <a:xfrm>
            <a:off x="885825" y="1891404"/>
            <a:ext cx="494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51"/>
          <p:cNvSpPr txBox="1"/>
          <p:nvPr/>
        </p:nvSpPr>
        <p:spPr>
          <a:xfrm>
            <a:off x="885900" y="1990565"/>
            <a:ext cx="4705200" cy="2539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1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수집</a:t>
            </a:r>
            <a:r>
              <a:rPr lang="en-US" sz="155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1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데이터</a:t>
            </a:r>
            <a:endParaRPr sz="1550" b="1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15D59"/>
              </a:buClr>
              <a:buSzPts val="1350"/>
              <a:buFont typeface="Wingdings" panose="05000000000000000000" pitchFamily="2" charset="2"/>
              <a:buChar char="§"/>
            </a:pPr>
            <a:r>
              <a:rPr lang="en-US" sz="1350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User_id</a:t>
            </a:r>
            <a:endParaRPr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15D59"/>
              </a:buClr>
              <a:buSzPts val="1350"/>
              <a:buFont typeface="Wingdings" panose="05000000000000000000" pitchFamily="2" charset="2"/>
              <a:buChar char="§"/>
            </a:pPr>
            <a:r>
              <a:rPr 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Country</a:t>
            </a:r>
            <a:endParaRPr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15D59"/>
              </a:buClr>
              <a:buSzPts val="1350"/>
              <a:buFont typeface="Wingdings" panose="05000000000000000000" pitchFamily="2" charset="2"/>
              <a:buChar char="§"/>
            </a:pPr>
            <a:r>
              <a:rPr 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City</a:t>
            </a:r>
            <a:endParaRPr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15D59"/>
              </a:buClr>
              <a:buSzPts val="1350"/>
              <a:buFont typeface="Wingdings" panose="05000000000000000000" pitchFamily="2" charset="2"/>
              <a:buChar char="§"/>
            </a:pPr>
            <a:r>
              <a:rPr 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Region</a:t>
            </a:r>
            <a:endParaRPr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15D59"/>
              </a:buClr>
              <a:buSzPts val="1350"/>
              <a:buFont typeface="Wingdings" panose="05000000000000000000" pitchFamily="2" charset="2"/>
              <a:buChar char="§"/>
            </a:pPr>
            <a:r>
              <a:rPr lang="en-US" sz="1350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IP_address</a:t>
            </a:r>
            <a:endParaRPr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15D59"/>
              </a:buClr>
              <a:buSzPts val="1350"/>
              <a:buFont typeface="Wingdings" panose="05000000000000000000" pitchFamily="2" charset="2"/>
              <a:buChar char="§"/>
            </a:pPr>
            <a:r>
              <a:rPr lang="en-US" sz="1350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User_agent_string</a:t>
            </a:r>
            <a:endParaRPr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15D59"/>
              </a:buClr>
              <a:buSzPts val="1350"/>
              <a:buFont typeface="Wingdings" panose="05000000000000000000" pitchFamily="2" charset="2"/>
              <a:buChar char="§"/>
            </a:pPr>
            <a:r>
              <a:rPr 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…</a:t>
            </a:r>
            <a:endParaRPr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0" name="Google Shape;880;p51"/>
          <p:cNvSpPr txBox="1"/>
          <p:nvPr/>
        </p:nvSpPr>
        <p:spPr>
          <a:xfrm>
            <a:off x="6600900" y="1843254"/>
            <a:ext cx="4705200" cy="317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데이터베이스 구조</a:t>
            </a:r>
            <a:r>
              <a:rPr lang="en-US" altLang="ko-KR" sz="1600" dirty="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(PostgreSQL)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35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  <a:r>
              <a:rPr 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ko-KR" alt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사용자 계정 및 기본 인증 정보 저장</a:t>
            </a:r>
            <a:endParaRPr lang="en-US" altLang="ko-KR"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350" b="1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users_keystroke_profiles</a:t>
            </a:r>
            <a:r>
              <a:rPr 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ko-KR" alt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회원가입 시 수집한 </a:t>
            </a:r>
            <a:r>
              <a:rPr lang="en-US" altLang="ko-KR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lang="ko-KR" alt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회의 기준 타건 데이터를 저장</a:t>
            </a:r>
            <a:endParaRPr lang="en-US" altLang="ko-KR"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350" b="1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keystroke_logs</a:t>
            </a:r>
            <a:r>
              <a:rPr 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ko-KR" alt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로그인 과정에서 발생한 타건 데이터를 저장</a:t>
            </a:r>
            <a:endParaRPr lang="en-US" altLang="ko-KR"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350" b="1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rba_ready_to_train</a:t>
            </a:r>
            <a:r>
              <a:rPr 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ko-KR" altLang="en-US" sz="135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로그인 환경 및 컨텍스트 정보를 저장</a:t>
            </a:r>
            <a:endParaRPr sz="135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2"/>
          <p:cNvSpPr txBox="1"/>
          <p:nvPr/>
        </p:nvSpPr>
        <p:spPr>
          <a:xfrm>
            <a:off x="1052146" y="1005254"/>
            <a:ext cx="116016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err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데모</a:t>
            </a:r>
            <a:endParaRPr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675" y="1175400"/>
            <a:ext cx="10436625" cy="4799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5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마무리</a:t>
            </a:r>
            <a:endParaRPr/>
          </a:p>
        </p:txBody>
      </p:sp>
      <p:pic>
        <p:nvPicPr>
          <p:cNvPr id="893" name="Google Shape;89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5773" y="1499276"/>
            <a:ext cx="9228701" cy="411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" name="Google Shape;898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8188" y="1218025"/>
            <a:ext cx="10100173" cy="5032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5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마무리</a:t>
            </a:r>
            <a:endParaRPr/>
          </a:p>
        </p:txBody>
      </p:sp>
      <p:pic>
        <p:nvPicPr>
          <p:cNvPr id="900" name="Google Shape;90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7801" y="1988702"/>
            <a:ext cx="8860950" cy="34906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EB54AD54-78FC-1D3F-E9FF-6B54A3FB946F}"/>
              </a:ext>
            </a:extLst>
          </p:cNvPr>
          <p:cNvSpPr/>
          <p:nvPr/>
        </p:nvSpPr>
        <p:spPr>
          <a:xfrm>
            <a:off x="6752492" y="3247292"/>
            <a:ext cx="422031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마무리</a:t>
            </a:r>
            <a:endParaRPr/>
          </a:p>
        </p:txBody>
      </p:sp>
      <p:pic>
        <p:nvPicPr>
          <p:cNvPr id="906" name="Google Shape;906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5" y="1709663"/>
            <a:ext cx="7701100" cy="151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55"/>
          <p:cNvSpPr txBox="1"/>
          <p:nvPr/>
        </p:nvSpPr>
        <p:spPr>
          <a:xfrm>
            <a:off x="1486964" y="2003488"/>
            <a:ext cx="6316800" cy="1004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기존</a:t>
            </a:r>
            <a:r>
              <a:rPr lang="en-US" sz="16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패스워드</a:t>
            </a:r>
            <a:r>
              <a:rPr lang="en-US" sz="16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인증의</a:t>
            </a:r>
            <a:r>
              <a:rPr lang="en-US" sz="1650" b="1" dirty="0">
                <a:solidFill>
                  <a:srgbClr val="615D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dirty="0" err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한계</a:t>
            </a:r>
            <a:endParaRPr sz="1650" b="1" dirty="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Wingdings" panose="05000000000000000000" pitchFamily="2" charset="2"/>
              <a:buChar char="§"/>
            </a:pPr>
            <a:r>
              <a:rPr lang="en-US" sz="13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취약한</a:t>
            </a:r>
            <a:r>
              <a:rPr lang="en-US" sz="13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보안성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크리덴셜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스터핑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대입공격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등에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취약</a:t>
            </a:r>
            <a:endParaRPr sz="135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Wingdings" panose="05000000000000000000" pitchFamily="2" charset="2"/>
              <a:buChar char="§"/>
            </a:pPr>
            <a:r>
              <a:rPr lang="en-US" sz="13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불편한</a:t>
            </a:r>
            <a:r>
              <a:rPr lang="en-US" sz="13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보안</a:t>
            </a:r>
            <a:r>
              <a:rPr lang="en-US" sz="13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강화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안전을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위한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MFA는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소비자에게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선호되지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않음</a:t>
            </a:r>
            <a:endParaRPr sz="135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08" name="Google Shape;908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5" y="3636613"/>
            <a:ext cx="7701100" cy="151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55"/>
          <p:cNvSpPr txBox="1"/>
          <p:nvPr/>
        </p:nvSpPr>
        <p:spPr>
          <a:xfrm>
            <a:off x="1486976" y="3930413"/>
            <a:ext cx="6975900" cy="1004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 err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프로젝트</a:t>
            </a:r>
            <a:r>
              <a:rPr lang="en-US" sz="1650" b="1" dirty="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dirty="0" err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의의</a:t>
            </a:r>
            <a:r>
              <a:rPr lang="en-US" sz="16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6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구조는</a:t>
            </a:r>
            <a:r>
              <a:rPr lang="en-US" sz="16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MFA, </a:t>
            </a:r>
            <a:r>
              <a:rPr lang="en-US" sz="16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경험은</a:t>
            </a:r>
            <a:r>
              <a:rPr lang="en-US" sz="16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SFA</a:t>
            </a:r>
            <a:endParaRPr sz="165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Wingdings" panose="05000000000000000000" pitchFamily="2" charset="2"/>
              <a:buChar char="§"/>
            </a:pP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평상시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안전한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환경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):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추가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인증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단계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없이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비밀번호</a:t>
            </a:r>
            <a:r>
              <a:rPr lang="en-US" sz="13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입력만으로</a:t>
            </a:r>
            <a:r>
              <a:rPr lang="en-US" sz="13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즉시</a:t>
            </a:r>
            <a:r>
              <a:rPr lang="en-US" sz="13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로그인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35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Wingdings" panose="05000000000000000000" pitchFamily="2" charset="2"/>
              <a:buChar char="§"/>
            </a:pP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이상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징후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감지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시: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시스템이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위험을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탐지하여</a:t>
            </a:r>
            <a:r>
              <a:rPr lang="en-US" sz="135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2차 </a:t>
            </a:r>
            <a:r>
              <a:rPr lang="en-US" sz="13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인증</a:t>
            </a:r>
            <a:r>
              <a:rPr lang="en-US" sz="13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요구</a:t>
            </a:r>
            <a:endParaRPr sz="135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4"/>
        </a:soli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1302E"/>
                </a:solidFill>
                <a:latin typeface="Inter"/>
                <a:ea typeface="Inter"/>
                <a:cs typeface="Inter"/>
                <a:sym typeface="Inter"/>
              </a:rPr>
              <a:t>참고 문헌 및 자료</a:t>
            </a:r>
            <a:endParaRPr/>
          </a:p>
        </p:txBody>
      </p:sp>
      <p:sp>
        <p:nvSpPr>
          <p:cNvPr id="915" name="Google Shape;915;p56"/>
          <p:cNvSpPr txBox="1"/>
          <p:nvPr/>
        </p:nvSpPr>
        <p:spPr>
          <a:xfrm>
            <a:off x="571500" y="1815725"/>
            <a:ext cx="10273200" cy="383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국내</a:t>
            </a:r>
            <a:r>
              <a:rPr lang="en-US" sz="15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학술</a:t>
            </a:r>
            <a:r>
              <a:rPr lang="en-US" sz="15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논문</a:t>
            </a:r>
            <a:endParaRPr sz="155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238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신지안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김휘강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(2020). "</a:t>
            </a:r>
            <a:r>
              <a:rPr lang="en-US" sz="12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키스트로크</a:t>
            </a: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다이나믹스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12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적응형</a:t>
            </a: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위험</a:t>
            </a: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기반</a:t>
            </a: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인증방식</a:t>
            </a:r>
            <a:r>
              <a:rPr lang="en-US" sz="12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을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활용한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사용자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인증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시스템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구현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." </a:t>
            </a:r>
            <a:r>
              <a:rPr lang="en-US" sz="1200" i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대한전기학회</a:t>
            </a:r>
            <a:r>
              <a:rPr lang="en-US" sz="1200" i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i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논문지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69(4), 267-274. 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1750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</a:rPr>
              <a:t>김경훈</a:t>
            </a:r>
            <a:r>
              <a:rPr lang="en-US" sz="1200" dirty="0">
                <a:solidFill>
                  <a:schemeClr val="dk1"/>
                </a:solidFill>
              </a:rPr>
              <a:t>, </a:t>
            </a:r>
            <a:r>
              <a:rPr lang="en-US" sz="1200" dirty="0" err="1">
                <a:solidFill>
                  <a:schemeClr val="dk1"/>
                </a:solidFill>
              </a:rPr>
              <a:t>권태경</a:t>
            </a:r>
            <a:r>
              <a:rPr lang="en-US" sz="1200" dirty="0">
                <a:solidFill>
                  <a:schemeClr val="dk1"/>
                </a:solidFill>
              </a:rPr>
              <a:t>. (2017). "</a:t>
            </a:r>
            <a:r>
              <a:rPr lang="en-US" sz="1200" dirty="0" err="1">
                <a:solidFill>
                  <a:schemeClr val="dk1"/>
                </a:solidFill>
              </a:rPr>
              <a:t>모바일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핀테크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서비스에서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이용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가능한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인증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수단의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사용성</a:t>
            </a:r>
            <a:r>
              <a:rPr lang="en-US" sz="1200" dirty="0">
                <a:solidFill>
                  <a:schemeClr val="dk1"/>
                </a:solidFill>
              </a:rPr>
              <a:t>, </a:t>
            </a:r>
            <a:r>
              <a:rPr lang="en-US" sz="1200" dirty="0" err="1">
                <a:solidFill>
                  <a:schemeClr val="dk1"/>
                </a:solidFill>
              </a:rPr>
              <a:t>안전성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분석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연구</a:t>
            </a:r>
            <a:r>
              <a:rPr lang="en-US" sz="1200" dirty="0">
                <a:solidFill>
                  <a:schemeClr val="dk1"/>
                </a:solidFill>
              </a:rPr>
              <a:t>." </a:t>
            </a:r>
            <a:r>
              <a:rPr lang="en-US" sz="1200" i="1" dirty="0" err="1">
                <a:solidFill>
                  <a:schemeClr val="dk1"/>
                </a:solidFill>
              </a:rPr>
              <a:t>정보보호학회논문지</a:t>
            </a:r>
            <a:r>
              <a:rPr lang="en-US" sz="1200" dirty="0">
                <a:solidFill>
                  <a:schemeClr val="dk1"/>
                </a:solidFill>
              </a:rPr>
              <a:t>, 27(4), 843-853. </a:t>
            </a:r>
            <a:endParaRPr sz="12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해외</a:t>
            </a:r>
            <a:r>
              <a:rPr lang="en-US" sz="15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논문</a:t>
            </a:r>
            <a:r>
              <a:rPr lang="en-US" sz="15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및 </a:t>
            </a:r>
            <a:r>
              <a:rPr lang="en-US" sz="15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벤치마크</a:t>
            </a:r>
            <a:r>
              <a:rPr lang="en-US" sz="155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데이터셋</a:t>
            </a:r>
            <a:endParaRPr sz="155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238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Killourhy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K. S., &amp; Maxion, R. A. (2009). "Comparing Anomaly-Detection Algorithms for</a:t>
            </a: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Keystroke Dynamics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." </a:t>
            </a:r>
            <a:r>
              <a:rPr lang="en-US" sz="1200" i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 Proceedings of the IEEE International Conference on Dependable Systems and Networks (DSN-2009)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(Keystroke Dynamics - Benchmark Data Set).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238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Wiefling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S., et al. (2021). "Login Data Set for </a:t>
            </a: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Risk-Based Authentication (RBA)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." </a:t>
            </a:r>
            <a:r>
              <a:rPr lang="en-US" sz="1200" i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Synthesized login feature data from a large-scale online single sign-on (SSO) service in Norway (2020-2021)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1750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Sheetal. (2025). "A Data-Driven Comparative Analysis of Password and Biometric Authentication Systems." </a:t>
            </a:r>
            <a:r>
              <a:rPr lang="en-US" sz="1200" i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International Journal on Science and Technology (IJSAT)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16(4), 1-13. </a:t>
            </a:r>
            <a:endParaRPr sz="13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>
          <a:extLst>
            <a:ext uri="{FF2B5EF4-FFF2-40B4-BE49-F238E27FC236}">
              <a16:creationId xmlns:a16="http://schemas.microsoft.com/office/drawing/2014/main" id="{C11BADF0-E1C6-16AC-A3E0-6EEF5495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6">
            <a:extLst>
              <a:ext uri="{FF2B5EF4-FFF2-40B4-BE49-F238E27FC236}">
                <a16:creationId xmlns:a16="http://schemas.microsoft.com/office/drawing/2014/main" id="{1738CFAB-3820-4B00-5DAE-D5769FF49A93}"/>
              </a:ext>
            </a:extLst>
          </p:cNvPr>
          <p:cNvSpPr txBox="1"/>
          <p:nvPr/>
        </p:nvSpPr>
        <p:spPr>
          <a:xfrm>
            <a:off x="802409" y="2277543"/>
            <a:ext cx="102732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유민성</a:t>
            </a:r>
            <a:r>
              <a:rPr lang="en-US" altLang="ko-KR" sz="16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ko-KR" altLang="en-US" sz="16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키스트로크</a:t>
            </a:r>
            <a:r>
              <a:rPr lang="en-US" altLang="ko-KR" sz="16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RBA </a:t>
            </a:r>
            <a:r>
              <a:rPr lang="ko-KR" altLang="en-US" sz="16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연구 및 보안 로직 개발</a:t>
            </a:r>
            <a:endParaRPr lang="en-US" altLang="ko-KR" sz="16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최윤서</a:t>
            </a:r>
            <a:r>
              <a:rPr lang="en-US" altLang="ko-KR" sz="16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ko-KR" altLang="en-US" sz="16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프론트엔드</a:t>
            </a:r>
            <a:endParaRPr lang="en-US" altLang="ko-KR" sz="16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6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김희서</a:t>
            </a:r>
            <a:r>
              <a:rPr lang="en-US" altLang="ko-KR" sz="16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ko-KR" altLang="en-US" sz="16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백엔드</a:t>
            </a:r>
            <a:endParaRPr lang="en-US" altLang="ko-KR" sz="16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r>
              <a:rPr lang="en-US" altLang="ko-KR" sz="16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altLang="ko-KR" sz="16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https://github.com/hs03290811/capstone2</a:t>
            </a:r>
            <a:endParaRPr lang="en-US" altLang="ko-KR" sz="16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4949274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02E"/>
        </a:solidFill>
        <a:effectLst/>
      </p:bgPr>
    </p:bg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7"/>
          <p:cNvSpPr txBox="1"/>
          <p:nvPr/>
        </p:nvSpPr>
        <p:spPr>
          <a:xfrm>
            <a:off x="762000" y="2536626"/>
            <a:ext cx="900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감사합니다</a:t>
            </a:r>
            <a:endParaRPr/>
          </a:p>
        </p:txBody>
      </p:sp>
      <p:sp>
        <p:nvSpPr>
          <p:cNvPr id="921" name="Google Shape;921;p57"/>
          <p:cNvSpPr/>
          <p:nvPr/>
        </p:nvSpPr>
        <p:spPr>
          <a:xfrm>
            <a:off x="762000" y="4054673"/>
            <a:ext cx="762000" cy="38100"/>
          </a:xfrm>
          <a:prstGeom prst="rect">
            <a:avLst/>
          </a:prstGeom>
          <a:solidFill>
            <a:srgbClr val="0075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5882</Words>
  <Application>Microsoft Office PowerPoint</Application>
  <PresentationFormat>와이드스크린</PresentationFormat>
  <Paragraphs>713</Paragraphs>
  <Slides>47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5" baseType="lpstr">
      <vt:lpstr>Inter Medium</vt:lpstr>
      <vt:lpstr>Calibri</vt:lpstr>
      <vt:lpstr>Wingdings</vt:lpstr>
      <vt:lpstr>Inter ExtraBold</vt:lpstr>
      <vt:lpstr>Inter SemiBold</vt:lpstr>
      <vt:lpstr>Inter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Minsung Yu</cp:lastModifiedBy>
  <cp:revision>67</cp:revision>
  <dcterms:modified xsi:type="dcterms:W3CDTF">2026-06-12T03:12:23Z</dcterms:modified>
</cp:coreProperties>
</file>